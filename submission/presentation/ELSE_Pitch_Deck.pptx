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687134934a47ea" /><Relationship Type="http://schemas.openxmlformats.org/officeDocument/2006/relationships/extended-properties" Target="/docProps/app.xml" Id="R71cbe86ccf1f4690" /><Relationship Type="http://schemas.openxmlformats.org/officeDocument/2006/relationships/officeDocument" Target="/ppt/presentation.xml" Id="Rfae83243a69340c1" /></Relationships>
</file>

<file path=ppt/presentation.xml><?xml version="1.0" encoding="utf-8"?>
<p:presentation xmlns:p="http://schemas.openxmlformats.org/presentationml/2006/main">
  <p:sldMasterIdLst>
    <p:sldMasterId xmlns:r="http://schemas.openxmlformats.org/officeDocument/2006/relationships" id="2147483648" r:id="R628142a2ab8148a0"/>
  </p:sldMasterIdLst>
  <p:notesMasterIdLst>
    <p:notesMasterId xmlns:r="http://schemas.openxmlformats.org/officeDocument/2006/relationships" r:id="R263e705cb9af4296"/>
  </p:notesMasterIdLst>
  <p:sldIdLst>
    <p:sldId xmlns:r="http://schemas.openxmlformats.org/officeDocument/2006/relationships" id="256" r:id="R5dffeddbd1d44b00"/>
    <p:sldId xmlns:r="http://schemas.openxmlformats.org/officeDocument/2006/relationships" id="257" r:id="Re656a9d35d624397"/>
    <p:sldId xmlns:r="http://schemas.openxmlformats.org/officeDocument/2006/relationships" id="258" r:id="Rab13ce38027441a5"/>
    <p:sldId xmlns:r="http://schemas.openxmlformats.org/officeDocument/2006/relationships" id="259" r:id="R0f7559b6275c4dbe"/>
    <p:sldId xmlns:r="http://schemas.openxmlformats.org/officeDocument/2006/relationships" id="260" r:id="R6bb15c71114944be"/>
    <p:sldId xmlns:r="http://schemas.openxmlformats.org/officeDocument/2006/relationships" id="261" r:id="Rb15686f9408340d8"/>
    <p:sldId xmlns:r="http://schemas.openxmlformats.org/officeDocument/2006/relationships" id="262" r:id="Rff7c1d9cb75846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12be2606f64980" /><Relationship Type="http://schemas.openxmlformats.org/officeDocument/2006/relationships/slideMaster" Target="/ppt/slideMasters/slideMaster1.xml" Id="R628142a2ab8148a0" /><Relationship Type="http://schemas.openxmlformats.org/officeDocument/2006/relationships/notesMaster" Target="/ppt/notesMasters/notesMaster1.xml" Id="R263e705cb9af4296" /><Relationship Type="http://schemas.openxmlformats.org/officeDocument/2006/relationships/presProps" Target="/ppt/presProps.xml" Id="Rae355919b83c40f6" /><Relationship Type="http://schemas.openxmlformats.org/officeDocument/2006/relationships/tableStyles" Target="/ppt/tableStyles.xml" Id="Rbaa60a3447114796" /><Relationship Type="http://schemas.openxmlformats.org/officeDocument/2006/relationships/slide" Target="/ppt/slides/slide1.xml" Id="R5dffeddbd1d44b00" /><Relationship Type="http://schemas.openxmlformats.org/officeDocument/2006/relationships/slide" Target="/ppt/slides/slide2.xml" Id="Re656a9d35d624397" /><Relationship Type="http://schemas.openxmlformats.org/officeDocument/2006/relationships/slide" Target="/ppt/slides/slide3.xml" Id="Rab13ce38027441a5" /><Relationship Type="http://schemas.openxmlformats.org/officeDocument/2006/relationships/slide" Target="/ppt/slides/slide4.xml" Id="R0f7559b6275c4dbe" /><Relationship Type="http://schemas.openxmlformats.org/officeDocument/2006/relationships/slide" Target="/ppt/slides/slide5.xml" Id="R6bb15c71114944be" /><Relationship Type="http://schemas.openxmlformats.org/officeDocument/2006/relationships/slide" Target="/ppt/slides/slide6.xml" Id="Rb15686f9408340d8" /><Relationship Type="http://schemas.openxmlformats.org/officeDocument/2006/relationships/slide" Target="/ppt/slides/slide7.xml" Id="Rff7c1d9cb75846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c74c667fae48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ce78e5317f46c7" /><Relationship Type="http://schemas.openxmlformats.org/officeDocument/2006/relationships/notesMaster" Target="/ppt/notesMasters/notesMaster1.xml" Id="R2bad226e1c794c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c486c795234fcb" /><Relationship Type="http://schemas.openxmlformats.org/officeDocument/2006/relationships/notesMaster" Target="/ppt/notesMasters/notesMaster1.xml" Id="Rc498732c4eda4d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a9380a256e4e86" /><Relationship Type="http://schemas.openxmlformats.org/officeDocument/2006/relationships/notesMaster" Target="/ppt/notesMasters/notesMaster1.xml" Id="R5800cf5b0c674df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a3493f6e544ee5" /><Relationship Type="http://schemas.openxmlformats.org/officeDocument/2006/relationships/notesMaster" Target="/ppt/notesMasters/notesMaster1.xml" Id="R01f3697e6a464a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bbc90e558246a6" /><Relationship Type="http://schemas.openxmlformats.org/officeDocument/2006/relationships/notesMaster" Target="/ppt/notesMasters/notesMaster1.xml" Id="R33ce8e3f36294cd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ecaeba751045b2" /><Relationship Type="http://schemas.openxmlformats.org/officeDocument/2006/relationships/notesMaster" Target="/ppt/notesMasters/notesMaster1.xml" Id="R155748ab5abb4c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cca83d755a4e7d" /><Relationship Type="http://schemas.openxmlformats.org/officeDocument/2006/relationships/notesMaster" Target="/ppt/notesMasters/notesMaster1.xml" Id="R8ab63dcb064741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ELSE helps people notice what their conversation is missing while they are still talking. The canvas surfaces questions and preserves a useful record.</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illustrative planning question shows the problem. These are product observations, not research statistics. A conversation can finish before anyone notices a missing dependency or unanswered question.</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priority lists live in the fixed sidebar. To clarify contains unresolved questions, Next steps contains stated actions, and Settled contains explicitly confirmed points. The visual field follows the active topic as the discussion moves. Summary opens a saved, copyable report with the complete chronological transcript.</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ELSE interface rendered from a synthetic photoshoot-planning demo. The center is the current topic. Surrounding cells offer questions and directions. The sidebar preserves priorities and the live transcript. This image illustrates the prototype, not an external customer conversation.</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sends microphone audio to the Fastify server over WebSocket. Fastify streams audio to AssemblyAI Streaming Speech-to-Text v3. Completed turns feed Google Gemini through OpenRouter. The server validates structured output and supporting quotes, stores state in SQLite and updates the React canvas. The configured models are universal-3-6-pro and google/gemini-3.8-flash. Source files: server/providers.ts, server/index.ts, server/field.ts, shared/report.ts.</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ELSE uses AssemblyAI Streaming Speech-to-Text, not the Voice Agent API or LLM Gateway. Speaker labels are automatic, use the dominant speaker for each turn, and are scoped to each microphone session. They do not identify a person by name or infer a role. Short, noisy or overlapping speech can produce uncertain labels. ELSE responds visually and has no spoken response in the current experience.</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use cases are project planning, negotiations, interviews and creative brainstorming. These are product applications, not claims of customer adoption or measured outcomes. The repository is public. A hosted application URL has not been supplied.</a:t>
            </a:r>
          </a:p>
          <a:p xmlns:a="http://schemas.openxmlformats.org/drawingml/2006/main">
            <a:r>
              <a:t/>
            </a:r>
          </a:p>
          <a:p xmlns:a="http://schemas.openxmlformats.org/drawingml/2006/main">
            <a:r>
              <a:t>Source: https://github.com/HASHQIX/else-voice-canvas/tree/29b4483e752b9d4e261cdf02e9a111ebaecd7b34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380dbc131464d3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8a7f7237b14f43" /><Relationship Type="http://schemas.openxmlformats.org/officeDocument/2006/relationships/slideLayout" Target="/ppt/slideLayouts/slideLayout1.xml" Id="Re3577825006c40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577825006c40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1b61e6ad0f4b6c" /><Relationship Type="http://schemas.openxmlformats.org/officeDocument/2006/relationships/notesSlide" Target="/ppt/notesSlides/notesSlide1.xml" Id="R9a05b7956e66483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9f107baf1d4d64" /><Relationship Type="http://schemas.openxmlformats.org/officeDocument/2006/relationships/notesSlide" Target="/ppt/notesSlides/notesSlide2.xml" Id="Rcef9ae953a3240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c58dc8f3d3493a" /><Relationship Type="http://schemas.openxmlformats.org/officeDocument/2006/relationships/notesSlide" Target="/ppt/notesSlides/notesSlide3.xml" Id="Rb1a73995451444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9a662928df4d95" /><Relationship Type="http://schemas.openxmlformats.org/officeDocument/2006/relationships/image" Target="/ppt/media/image.png" Id="Ra7225d4000cb439e" /><Relationship Type="http://schemas.openxmlformats.org/officeDocument/2006/relationships/notesSlide" Target="/ppt/notesSlides/notesSlide4.xml" Id="R33ca5b4ee42f47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844e69ea04492b" /><Relationship Type="http://schemas.openxmlformats.org/officeDocument/2006/relationships/notesSlide" Target="/ppt/notesSlides/notesSlide5.xml" Id="Ra52130ba8d4a41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4360d3824c4696" /><Relationship Type="http://schemas.openxmlformats.org/officeDocument/2006/relationships/notesSlide" Target="/ppt/notesSlides/notesSlide6.xml" Id="R16cffc4630e442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b661c40e9144fc4" /><Relationship Type="http://schemas.openxmlformats.org/officeDocument/2006/relationships/hyperlink" Target="https://github.com/HASHQIX/else-voice-canvas" TargetMode="External" Id="Re8e2cf60684c4c0f" /><Relationship Type="http://schemas.openxmlformats.org/officeDocument/2006/relationships/notesSlide" Target="/ppt/notesSlides/notesSlide7.xml" Id="R492d870974204ab6" /></Relationships>
</file>

<file path=ppt/slides/slide1.xml><?xml version="1.0" encoding="utf-8"?>
<p:sld xmlns:p="http://schemas.openxmlformats.org/presentationml/2006/main">
  <p:cSld>
    <p:bg>
      <p:bgPr>
        <a:solidFill xmlns:a="http://schemas.openxmlformats.org/drawingml/2006/main">
          <a:srgbClr val="303030"/>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D08DC8AA-DA75-4518-B534-BAF20B17D4C4}"/>
              </a:ext>
            </a:extLst>
          </p:cNvPr>
          <p:cNvSpPr>
            <a:spLocks xmlns:a="http://schemas.openxmlformats.org/drawingml/2006/main" noGrp="1"/>
          </p:cNvSpPr>
          <p:nvPr/>
        </p:nvSpPr>
        <p:spPr>
          <a:xfrm xmlns:a="http://schemas.openxmlformats.org/drawingml/2006/main">
            <a:off x="609600" y="990600"/>
            <a:ext cx="10668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9900" b="1">
                <a:solidFill>
                  <a:srgbClr val="F7F6F2"/>
                </a:solidFill>
                <a:latin typeface="Helvetica Neue"/>
                <a:ea typeface="Helvetica Neue"/>
                <a:cs typeface="Helvetica Neue"/>
              </a:defRPr>
            </a:pPr>
            <a:r>
              <a:rPr sz="9900" b="1">
                <a:solidFill>
                  <a:srgbClr val="F7F6F2"/>
                </a:solidFill>
                <a:latin typeface="Helvetica Neue"/>
                <a:ea typeface="Helvetica Neue"/>
                <a:cs typeface="Helvetica Neue"/>
              </a:rPr>
              <a:t>ELSE</a:t>
            </a:r>
          </a:p>
        </p:txBody>
      </p:sp>
      <p:sp>
        <p:nvSpPr>
          <p:cNvPr id="2" name="tagline">
            <a:extLst xmlns:a="http://schemas.openxmlformats.org/drawingml/2006/main">
              <a:ext uri="{FF2B5EF4-FFF2-40B4-BE49-F238E27FC236}">
                <a16:creationId xmlns:a16="http://schemas.microsoft.com/office/drawing/2014/main" id="{867048CD-27E8-4FB1-B082-E8623F9FEFF8}"/>
              </a:ext>
            </a:extLst>
          </p:cNvPr>
          <p:cNvSpPr>
            <a:spLocks xmlns:a="http://schemas.openxmlformats.org/drawingml/2006/main" noGrp="1"/>
          </p:cNvSpPr>
          <p:nvPr/>
        </p:nvSpPr>
        <p:spPr>
          <a:xfrm xmlns:a="http://schemas.openxmlformats.org/drawingml/2006/main">
            <a:off x="609600" y="3000375"/>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500" b="0">
                <a:solidFill>
                  <a:srgbClr val="F7F6F2"/>
                </a:solidFill>
                <a:latin typeface="Helvetica Neue"/>
                <a:ea typeface="Helvetica Neue"/>
                <a:cs typeface="Helvetica Neue"/>
              </a:defRPr>
            </a:pPr>
            <a:r>
              <a:rPr sz="4500" b="0">
                <a:solidFill>
                  <a:srgbClr val="F7F6F2"/>
                </a:solidFill>
                <a:latin typeface="Helvetica Neue"/>
                <a:ea typeface="Helvetica Neue"/>
                <a:cs typeface="Helvetica Neue"/>
              </a:rPr>
              <a:t>Think out loud.</a:t>
            </a:r>
          </a:p>
          <a:p xmlns:a="http://schemas.openxmlformats.org/drawingml/2006/main">
            <a:pPr algn="l">
              <a:defRPr sz="4500" b="0">
                <a:solidFill>
                  <a:srgbClr val="F7F6F2"/>
                </a:solidFill>
                <a:latin typeface="Helvetica Neue"/>
                <a:ea typeface="Helvetica Neue"/>
                <a:cs typeface="Helvetica Neue"/>
              </a:defRPr>
            </a:pPr>
            <a:r>
              <a:rPr sz="4500" b="0">
                <a:solidFill>
                  <a:srgbClr val="F7F6F2"/>
                </a:solidFill>
                <a:latin typeface="Helvetica Neue"/>
                <a:ea typeface="Helvetica Neue"/>
                <a:cs typeface="Helvetica Neue"/>
              </a:rPr>
              <a:t>See what else matters.</a:t>
            </a:r>
          </a:p>
        </p:txBody>
      </p:sp>
      <p:sp>
        <p:nvSpPr>
          <p:cNvPr id="3" name="category">
            <a:extLst xmlns:a="http://schemas.openxmlformats.org/drawingml/2006/main">
              <a:ext uri="{FF2B5EF4-FFF2-40B4-BE49-F238E27FC236}">
                <a16:creationId xmlns:a16="http://schemas.microsoft.com/office/drawing/2014/main" id="{4CA663F1-789F-475C-9A38-9B999A37BF73}"/>
              </a:ext>
            </a:extLst>
          </p:cNvPr>
          <p:cNvSpPr>
            <a:spLocks xmlns:a="http://schemas.openxmlformats.org/drawingml/2006/main" noGrp="1"/>
          </p:cNvSpPr>
          <p:nvPr/>
        </p:nvSpPr>
        <p:spPr>
          <a:xfrm xmlns:a="http://schemas.openxmlformats.org/drawingml/2006/main">
            <a:off x="647700" y="55340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C5C7BF"/>
                </a:solidFill>
                <a:latin typeface="Helvetica Neue"/>
                <a:ea typeface="Helvetica Neue"/>
                <a:cs typeface="Helvetica Neue"/>
              </a:defRPr>
            </a:pPr>
            <a:r>
              <a:rPr sz="2100" b="0">
                <a:solidFill>
                  <a:srgbClr val="C5C7BF"/>
                </a:solidFill>
                <a:latin typeface="Helvetica Neue"/>
                <a:ea typeface="Helvetica Neue"/>
                <a:cs typeface="Helvetica Neue"/>
              </a:rPr>
              <a:t>A voice-first conversational canvas</a:t>
            </a:r>
          </a:p>
        </p:txBody>
      </p:sp>
      <p:sp>
        <p:nvSpPr>
          <p:cNvPr id="4" name="event">
            <a:extLst xmlns:a="http://schemas.openxmlformats.org/drawingml/2006/main">
              <a:ext uri="{FF2B5EF4-FFF2-40B4-BE49-F238E27FC236}">
                <a16:creationId xmlns:a16="http://schemas.microsoft.com/office/drawing/2014/main" id="{6039DC4A-4BF4-4931-9A0F-37AA06BF61A4}"/>
              </a:ext>
            </a:extLst>
          </p:cNvPr>
          <p:cNvSpPr>
            <a:spLocks xmlns:a="http://schemas.openxmlformats.org/drawingml/2006/main" noGrp="1"/>
          </p:cNvSpPr>
          <p:nvPr/>
        </p:nvSpPr>
        <p:spPr>
          <a:xfrm xmlns:a="http://schemas.openxmlformats.org/drawingml/2006/main">
            <a:off x="647700" y="61626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C5C7BF"/>
                </a:solidFill>
                <a:latin typeface="Helvetica Neue"/>
                <a:ea typeface="Helvetica Neue"/>
                <a:cs typeface="Helvetica Neue"/>
              </a:defRPr>
            </a:pPr>
            <a:r>
              <a:rPr sz="1350" b="0">
                <a:solidFill>
                  <a:srgbClr val="C5C7BF"/>
                </a:solidFill>
                <a:latin typeface="Helvetica Neue"/>
                <a:ea typeface="Helvetica Neue"/>
                <a:cs typeface="Helvetica Neue"/>
              </a:rPr>
              <a:t>AssemblyAI Voice Agent Hackathon 2026</a:t>
            </a:r>
          </a:p>
        </p:txBody>
      </p:sp>
    </p:spTree>
    <p:extLst>
      <p:ext uri="{BB962C8B-B14F-4D97-AF65-F5344CB8AC3E}">
        <p14:creationId xmlns:p14="http://schemas.microsoft.com/office/powerpoint/2010/main" val="190848866"/>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739348E2-3903-497B-89D1-E9EF22E7EB67}"/>
              </a:ext>
            </a:extLst>
          </p:cNvPr>
          <p:cNvSpPr>
            <a:spLocks xmlns:a="http://schemas.openxmlformats.org/drawingml/2006/main" noGrp="1"/>
          </p:cNvSpPr>
          <p:nvPr/>
        </p:nvSpPr>
        <p:spPr>
          <a:xfrm xmlns:a="http://schemas.openxmlformats.org/drawingml/2006/main">
            <a:off x="609600" y="457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747A6C"/>
                </a:solidFill>
                <a:latin typeface="Helvetica Neue"/>
                <a:ea typeface="Helvetica Neue"/>
                <a:cs typeface="Helvetica Neue"/>
              </a:defRPr>
            </a:pPr>
            <a:r>
              <a:rPr sz="1425" b="0">
                <a:solidFill>
                  <a:srgbClr val="747A6C"/>
                </a:solidFill>
                <a:latin typeface="Helvetica Neue"/>
                <a:ea typeface="Helvetica Neue"/>
                <a:cs typeface="Helvetica Neue"/>
              </a:rPr>
              <a:t>THE PROBLEM</a:t>
            </a:r>
          </a:p>
        </p:txBody>
      </p:sp>
      <p:sp>
        <p:nvSpPr>
          <p:cNvPr id="2" name="problem-title">
            <a:extLst xmlns:a="http://schemas.openxmlformats.org/drawingml/2006/main">
              <a:ext uri="{FF2B5EF4-FFF2-40B4-BE49-F238E27FC236}">
                <a16:creationId xmlns:a16="http://schemas.microsoft.com/office/drawing/2014/main" id="{2FF39ACB-6E83-4DC3-8E77-0DDD95365F0B}"/>
              </a:ext>
            </a:extLst>
          </p:cNvPr>
          <p:cNvSpPr>
            <a:spLocks xmlns:a="http://schemas.openxmlformats.org/drawingml/2006/main" noGrp="1"/>
          </p:cNvSpPr>
          <p:nvPr/>
        </p:nvSpPr>
        <p:spPr>
          <a:xfrm xmlns:a="http://schemas.openxmlformats.org/drawingml/2006/main">
            <a:off x="609600" y="1295400"/>
            <a:ext cx="71437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5100" b="1">
                <a:solidFill>
                  <a:srgbClr val="303030"/>
                </a:solidFill>
                <a:latin typeface="Helvetica Neue"/>
                <a:ea typeface="Helvetica Neue"/>
                <a:cs typeface="Helvetica Neue"/>
              </a:defRPr>
            </a:pPr>
            <a:r>
              <a:rPr sz="5100" b="1">
                <a:solidFill>
                  <a:srgbClr val="303030"/>
                </a:solidFill>
                <a:latin typeface="Helvetica Neue"/>
                <a:ea typeface="Helvetica Neue"/>
                <a:cs typeface="Helvetica Neue"/>
              </a:rPr>
              <a:t>The question</a:t>
            </a:r>
          </a:p>
          <a:p xmlns:a="http://schemas.openxmlformats.org/drawingml/2006/main">
            <a:pPr algn="l">
              <a:defRPr sz="5100" b="1">
                <a:solidFill>
                  <a:srgbClr val="303030"/>
                </a:solidFill>
                <a:latin typeface="Helvetica Neue"/>
                <a:ea typeface="Helvetica Neue"/>
                <a:cs typeface="Helvetica Neue"/>
              </a:defRPr>
            </a:pPr>
            <a:r>
              <a:rPr sz="5100" b="1">
                <a:solidFill>
                  <a:srgbClr val="303030"/>
                </a:solidFill>
                <a:latin typeface="Helvetica Neue"/>
                <a:ea typeface="Helvetica Neue"/>
                <a:cs typeface="Helvetica Neue"/>
              </a:rPr>
              <a:t>nobody asked</a:t>
            </a:r>
          </a:p>
        </p:txBody>
      </p:sp>
      <p:sp>
        <p:nvSpPr>
          <p:cNvPr id="3" name="problem-body">
            <a:extLst xmlns:a="http://schemas.openxmlformats.org/drawingml/2006/main">
              <a:ext uri="{FF2B5EF4-FFF2-40B4-BE49-F238E27FC236}">
                <a16:creationId xmlns:a16="http://schemas.microsoft.com/office/drawing/2014/main" id="{FFDFD5F6-CB95-424F-B681-D104C7E85F5B}"/>
              </a:ext>
            </a:extLst>
          </p:cNvPr>
          <p:cNvSpPr>
            <a:spLocks xmlns:a="http://schemas.openxmlformats.org/drawingml/2006/main" noGrp="1"/>
          </p:cNvSpPr>
          <p:nvPr/>
        </p:nvSpPr>
        <p:spPr>
          <a:xfrm xmlns:a="http://schemas.openxmlformats.org/drawingml/2006/main">
            <a:off x="647700" y="3495675"/>
            <a:ext cx="704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303030"/>
                </a:solidFill>
                <a:latin typeface="Helvetica Neue"/>
                <a:ea typeface="Helvetica Neue"/>
                <a:cs typeface="Helvetica Neue"/>
              </a:defRPr>
            </a:pPr>
            <a:r>
              <a:rPr sz="2250" b="0">
                <a:solidFill>
                  <a:srgbClr val="303030"/>
                </a:solidFill>
                <a:latin typeface="Helvetica Neue"/>
                <a:ea typeface="Helvetica Neue"/>
                <a:cs typeface="Helvetica Neue"/>
              </a:rPr>
              <a:t>Topics move quickly.</a:t>
            </a:r>
          </a:p>
          <a:p xmlns:a="http://schemas.openxmlformats.org/drawingml/2006/main">
            <a:pPr algn="l">
              <a:defRPr sz="2250" b="0">
                <a:solidFill>
                  <a:srgbClr val="303030"/>
                </a:solidFill>
                <a:latin typeface="Helvetica Neue"/>
                <a:ea typeface="Helvetica Neue"/>
                <a:cs typeface="Helvetica Neue"/>
              </a:defRPr>
            </a:pPr>
            <a:r>
              <a:rPr sz="2250" b="0">
                <a:solidFill>
                  <a:srgbClr val="303030"/>
                </a:solidFill>
                <a:latin typeface="Helvetica Neue"/>
                <a:ea typeface="Helvetica Neue"/>
                <a:cs typeface="Helvetica Neue"/>
              </a:rPr>
              <a:t>Assumptions stay unchallenged.</a:t>
            </a:r>
          </a:p>
          <a:p xmlns:a="http://schemas.openxmlformats.org/drawingml/2006/main">
            <a:pPr algn="l">
              <a:defRPr sz="2250" b="0">
                <a:solidFill>
                  <a:srgbClr val="303030"/>
                </a:solidFill>
                <a:latin typeface="Helvetica Neue"/>
                <a:ea typeface="Helvetica Neue"/>
                <a:cs typeface="Helvetica Neue"/>
              </a:defRPr>
            </a:pPr>
            <a:r>
              <a:rPr sz="2250" b="0">
                <a:solidFill>
                  <a:srgbClr val="303030"/>
                </a:solidFill>
                <a:latin typeface="Helvetica Neue"/>
                <a:ea typeface="Helvetica Neue"/>
                <a:cs typeface="Helvetica Neue"/>
              </a:rPr>
              <a:t>Important questions get left behind.</a:t>
            </a:r>
          </a:p>
        </p:txBody>
      </p:sp>
      <p:sp>
        <p:nvSpPr>
          <p:cNvPr id="4" name="example-question">
            <a:extLst xmlns:a="http://schemas.openxmlformats.org/drawingml/2006/main">
              <a:ext uri="{FF2B5EF4-FFF2-40B4-BE49-F238E27FC236}">
                <a16:creationId xmlns:a16="http://schemas.microsoft.com/office/drawing/2014/main" id="{D8BDE4A9-D2A4-436E-A412-F98FA6EAD691}"/>
              </a:ext>
            </a:extLst>
          </p:cNvPr>
          <p:cNvSpPr>
            <a:spLocks xmlns:a="http://schemas.openxmlformats.org/drawingml/2006/main" noGrp="1"/>
          </p:cNvSpPr>
          <p:nvPr/>
        </p:nvSpPr>
        <p:spPr>
          <a:xfrm xmlns:a="http://schemas.openxmlformats.org/drawingml/2006/main">
            <a:off x="8134350" y="2143125"/>
            <a:ext cx="33813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075" b="0">
                <a:solidFill>
                  <a:srgbClr val="747A6C"/>
                </a:solidFill>
                <a:latin typeface="Helvetica Neue"/>
                <a:ea typeface="Helvetica Neue"/>
                <a:cs typeface="Helvetica Neue"/>
              </a:defRPr>
            </a:pPr>
            <a:r>
              <a:rPr sz="3075" b="0">
                <a:solidFill>
                  <a:srgbClr val="747A6C"/>
                </a:solidFill>
                <a:latin typeface="Helvetica Neue"/>
                <a:ea typeface="Helvetica Neue"/>
                <a:cs typeface="Helvetica Neue"/>
              </a:rPr>
              <a:t>“What happens</a:t>
            </a:r>
          </a:p>
          <a:p xmlns:a="http://schemas.openxmlformats.org/drawingml/2006/main">
            <a:pPr algn="l">
              <a:defRPr sz="3075" b="0">
                <a:solidFill>
                  <a:srgbClr val="747A6C"/>
                </a:solidFill>
                <a:latin typeface="Helvetica Neue"/>
                <a:ea typeface="Helvetica Neue"/>
                <a:cs typeface="Helvetica Neue"/>
              </a:defRPr>
            </a:pPr>
            <a:r>
              <a:rPr sz="3075" b="0">
                <a:solidFill>
                  <a:srgbClr val="747A6C"/>
                </a:solidFill>
                <a:latin typeface="Helvetica Neue"/>
                <a:ea typeface="Helvetica Neue"/>
                <a:cs typeface="Helvetica Neue"/>
              </a:rPr>
              <a:t>if we miss</a:t>
            </a:r>
          </a:p>
          <a:p xmlns:a="http://schemas.openxmlformats.org/drawingml/2006/main">
            <a:pPr algn="l">
              <a:defRPr sz="3075" b="0">
                <a:solidFill>
                  <a:srgbClr val="747A6C"/>
                </a:solidFill>
                <a:latin typeface="Helvetica Neue"/>
                <a:ea typeface="Helvetica Neue"/>
                <a:cs typeface="Helvetica Neue"/>
              </a:defRPr>
            </a:pPr>
            <a:r>
              <a:rPr sz="3075" b="0">
                <a:solidFill>
                  <a:srgbClr val="747A6C"/>
                </a:solidFill>
                <a:latin typeface="Helvetica Neue"/>
                <a:ea typeface="Helvetica Neue"/>
                <a:cs typeface="Helvetica Neue"/>
              </a:rPr>
              <a:t>the date?”</a:t>
            </a:r>
          </a:p>
        </p:txBody>
      </p:sp>
      <p:sp>
        <p:nvSpPr>
          <p:cNvPr id="5" name="problem-close">
            <a:extLst xmlns:a="http://schemas.openxmlformats.org/drawingml/2006/main">
              <a:ext uri="{FF2B5EF4-FFF2-40B4-BE49-F238E27FC236}">
                <a16:creationId xmlns:a16="http://schemas.microsoft.com/office/drawing/2014/main" id="{4C6090EC-5ACB-4624-A95D-E723FC0118A3}"/>
              </a:ext>
            </a:extLst>
          </p:cNvPr>
          <p:cNvSpPr>
            <a:spLocks xmlns:a="http://schemas.openxmlformats.org/drawingml/2006/main" noGrp="1"/>
          </p:cNvSpPr>
          <p:nvPr/>
        </p:nvSpPr>
        <p:spPr>
          <a:xfrm xmlns:a="http://schemas.openxmlformats.org/drawingml/2006/main">
            <a:off x="647700" y="58959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75" b="0">
                <a:solidFill>
                  <a:srgbClr val="747A6C"/>
                </a:solidFill>
                <a:latin typeface="Helvetica Neue"/>
                <a:ea typeface="Helvetica Neue"/>
                <a:cs typeface="Helvetica Neue"/>
              </a:defRPr>
            </a:pPr>
            <a:r>
              <a:rPr sz="1875" b="0">
                <a:solidFill>
                  <a:srgbClr val="747A6C"/>
                </a:solidFill>
                <a:latin typeface="Helvetica Neue"/>
                <a:ea typeface="Helvetica Neue"/>
                <a:cs typeface="Helvetica Neue"/>
              </a:rPr>
              <a:t>A transcript records what was said. Missing questions remain invisible.</a:t>
            </a:r>
          </a:p>
        </p:txBody>
      </p:sp>
    </p:spTree>
    <p:extLst>
      <p:ext uri="{BB962C8B-B14F-4D97-AF65-F5344CB8AC3E}">
        <p14:creationId xmlns:p14="http://schemas.microsoft.com/office/powerpoint/2010/main" val="2067533255"/>
      </p:ext>
    </p:extLst>
  </p:cSld>
</p:sld>
</file>

<file path=ppt/slides/slide3.xml><?xml version="1.0" encoding="utf-8"?>
<p:sld xmlns:p="http://schemas.openxmlformats.org/presentationml/2006/main">
  <p:cSld>
    <p:bg>
      <p:bgPr>
        <a:solidFill xmlns:a="http://schemas.openxmlformats.org/drawingml/2006/main">
          <a:srgbClr val="303030"/>
        </a:solidFill>
      </p:bgPr>
    </p:bg>
    <p:spTree>
      <p:nvGrpSpPr>
        <p:cNvPr id="1" name=""/>
        <p:cNvGrpSpPr/>
        <p:nvPr/>
      </p:nvGrpSpPr>
      <p:grpSpPr>
        <a:xfrm xmlns:a="http://schemas.openxmlformats.org/drawingml/2006/main"/>
      </p:grpSpPr>
      <p:sp>
        <p:nvSpPr>
          <p:cNvPr id="6" name="section">
            <a:extLst xmlns:a="http://schemas.openxmlformats.org/drawingml/2006/main">
              <a:ext uri="{FF2B5EF4-FFF2-40B4-BE49-F238E27FC236}">
                <a16:creationId xmlns:a16="http://schemas.microsoft.com/office/drawing/2014/main" id="{8A39A822-350D-45AF-A3E1-133D073A590E}"/>
              </a:ext>
            </a:extLst>
          </p:cNvPr>
          <p:cNvSpPr>
            <a:spLocks xmlns:a="http://schemas.openxmlformats.org/drawingml/2006/main" noGrp="1"/>
          </p:cNvSpPr>
          <p:nvPr/>
        </p:nvSpPr>
        <p:spPr>
          <a:xfrm xmlns:a="http://schemas.openxmlformats.org/drawingml/2006/main">
            <a:off x="609600" y="457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C5C7BF"/>
                </a:solidFill>
                <a:latin typeface="Helvetica Neue"/>
                <a:ea typeface="Helvetica Neue"/>
                <a:cs typeface="Helvetica Neue"/>
              </a:defRPr>
            </a:pPr>
            <a:r>
              <a:rPr sz="1425" b="0">
                <a:solidFill>
                  <a:srgbClr val="C5C7BF"/>
                </a:solidFill>
                <a:latin typeface="Helvetica Neue"/>
                <a:ea typeface="Helvetica Neue"/>
                <a:cs typeface="Helvetica Neue"/>
              </a:rPr>
              <a:t>THE SOLUTION</a:t>
            </a:r>
          </a:p>
        </p:txBody>
      </p:sp>
      <p:sp>
        <p:nvSpPr>
          <p:cNvPr id="2" name="solution-title">
            <a:extLst xmlns:a="http://schemas.openxmlformats.org/drawingml/2006/main">
              <a:ext uri="{FF2B5EF4-FFF2-40B4-BE49-F238E27FC236}">
                <a16:creationId xmlns:a16="http://schemas.microsoft.com/office/drawing/2014/main" id="{1D337B3A-CC6F-4FAD-A956-F3119166F74B}"/>
              </a:ext>
            </a:extLst>
          </p:cNvPr>
          <p:cNvSpPr>
            <a:spLocks xmlns:a="http://schemas.openxmlformats.org/drawingml/2006/main" noGrp="1"/>
          </p:cNvSpPr>
          <p:nvPr/>
        </p:nvSpPr>
        <p:spPr>
          <a:xfrm xmlns:a="http://schemas.openxmlformats.org/drawingml/2006/main">
            <a:off x="609600" y="1247775"/>
            <a:ext cx="10572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350" b="1">
                <a:solidFill>
                  <a:srgbClr val="F7F6F2"/>
                </a:solidFill>
                <a:latin typeface="Helvetica Neue"/>
                <a:ea typeface="Helvetica Neue"/>
                <a:cs typeface="Helvetica Neue"/>
              </a:defRPr>
            </a:pPr>
            <a:r>
              <a:rPr sz="4350" b="1">
                <a:solidFill>
                  <a:srgbClr val="F7F6F2"/>
                </a:solidFill>
                <a:latin typeface="Helvetica Neue"/>
                <a:ea typeface="Helvetica Neue"/>
                <a:cs typeface="Helvetica Neue"/>
              </a:rPr>
              <a:t>A canvas that follows</a:t>
            </a:r>
          </a:p>
          <a:p xmlns:a="http://schemas.openxmlformats.org/drawingml/2006/main">
            <a:pPr algn="l">
              <a:defRPr sz="4350" b="1">
                <a:solidFill>
                  <a:srgbClr val="F7F6F2"/>
                </a:solidFill>
                <a:latin typeface="Helvetica Neue"/>
                <a:ea typeface="Helvetica Neue"/>
                <a:cs typeface="Helvetica Neue"/>
              </a:defRPr>
            </a:pPr>
            <a:r>
              <a:rPr sz="4350" b="1">
                <a:solidFill>
                  <a:srgbClr val="F7F6F2"/>
                </a:solidFill>
                <a:latin typeface="Helvetica Neue"/>
                <a:ea typeface="Helvetica Neue"/>
                <a:cs typeface="Helvetica Neue"/>
              </a:rPr>
              <a:t>the conversation</a:t>
            </a:r>
          </a:p>
        </p:txBody>
      </p:sp>
      <p:sp>
        <p:nvSpPr>
          <p:cNvPr id="3" name="solution-body">
            <a:extLst xmlns:a="http://schemas.openxmlformats.org/drawingml/2006/main">
              <a:ext uri="{FF2B5EF4-FFF2-40B4-BE49-F238E27FC236}">
                <a16:creationId xmlns:a16="http://schemas.microsoft.com/office/drawing/2014/main" id="{58906A6C-BB6C-4A11-87CD-91723A2608D4}"/>
              </a:ext>
            </a:extLst>
          </p:cNvPr>
          <p:cNvSpPr>
            <a:spLocks xmlns:a="http://schemas.openxmlformats.org/drawingml/2006/main" noGrp="1"/>
          </p:cNvSpPr>
          <p:nvPr/>
        </p:nvSpPr>
        <p:spPr>
          <a:xfrm xmlns:a="http://schemas.openxmlformats.org/drawingml/2006/main">
            <a:off x="647700" y="3209925"/>
            <a:ext cx="10382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0">
                <a:solidFill>
                  <a:srgbClr val="F7F6F2"/>
                </a:solidFill>
                <a:latin typeface="Helvetica Neue"/>
                <a:ea typeface="Helvetica Neue"/>
                <a:cs typeface="Helvetica Neue"/>
              </a:defRPr>
            </a:pPr>
            <a:r>
              <a:rPr sz="2475" b="0">
                <a:solidFill>
                  <a:srgbClr val="F7F6F2"/>
                </a:solidFill>
                <a:latin typeface="Helvetica Neue"/>
                <a:ea typeface="Helvetica Neue"/>
                <a:cs typeface="Helvetica Neue"/>
              </a:rPr>
              <a:t>The current topic stays in the center.</a:t>
            </a:r>
          </a:p>
          <a:p xmlns:a="http://schemas.openxmlformats.org/drawingml/2006/main">
            <a:pPr algn="l">
              <a:defRPr sz="2475" b="0">
                <a:solidFill>
                  <a:srgbClr val="F7F6F2"/>
                </a:solidFill>
                <a:latin typeface="Helvetica Neue"/>
                <a:ea typeface="Helvetica Neue"/>
                <a:cs typeface="Helvetica Neue"/>
              </a:defRPr>
            </a:pPr>
            <a:r>
              <a:rPr sz="2475" b="0">
                <a:solidFill>
                  <a:srgbClr val="F7F6F2"/>
                </a:solidFill>
                <a:latin typeface="Helvetica Neue"/>
                <a:ea typeface="Helvetica Neue"/>
                <a:cs typeface="Helvetica Neue"/>
              </a:rPr>
              <a:t>Eight directions help reveal what to explore next.</a:t>
            </a:r>
          </a:p>
        </p:txBody>
      </p:sp>
      <p:sp>
        <p:nvSpPr>
          <p:cNvPr id="4" name="priorities">
            <a:extLst xmlns:a="http://schemas.openxmlformats.org/drawingml/2006/main">
              <a:ext uri="{FF2B5EF4-FFF2-40B4-BE49-F238E27FC236}">
                <a16:creationId xmlns:a16="http://schemas.microsoft.com/office/drawing/2014/main" id="{42E56D31-FC4E-457B-A4E5-341036173C37}"/>
              </a:ext>
            </a:extLst>
          </p:cNvPr>
          <p:cNvSpPr>
            <a:spLocks xmlns:a="http://schemas.openxmlformats.org/drawingml/2006/main" noGrp="1"/>
          </p:cNvSpPr>
          <p:nvPr/>
        </p:nvSpPr>
        <p:spPr>
          <a:xfrm xmlns:a="http://schemas.openxmlformats.org/drawingml/2006/main">
            <a:off x="647700" y="4657725"/>
            <a:ext cx="3048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F7F6F2"/>
                </a:solidFill>
                <a:latin typeface="Helvetica Neue"/>
                <a:ea typeface="Helvetica Neue"/>
                <a:cs typeface="Helvetica Neue"/>
              </a:defRPr>
            </a:pPr>
            <a:r>
              <a:rPr sz="2250" b="0">
                <a:solidFill>
                  <a:srgbClr val="F7F6F2"/>
                </a:solidFill>
                <a:latin typeface="Helvetica Neue"/>
                <a:ea typeface="Helvetica Neue"/>
                <a:cs typeface="Helvetica Neue"/>
              </a:rPr>
              <a:t>To clarify</a:t>
            </a:r>
          </a:p>
          <a:p xmlns:a="http://schemas.openxmlformats.org/drawingml/2006/main">
            <a:pPr algn="l">
              <a:defRPr sz="2250" b="0">
                <a:solidFill>
                  <a:srgbClr val="F7F6F2"/>
                </a:solidFill>
                <a:latin typeface="Helvetica Neue"/>
                <a:ea typeface="Helvetica Neue"/>
                <a:cs typeface="Helvetica Neue"/>
              </a:defRPr>
            </a:pPr>
            <a:r>
              <a:rPr sz="2250" b="0">
                <a:solidFill>
                  <a:srgbClr val="F7F6F2"/>
                </a:solidFill>
                <a:latin typeface="Helvetica Neue"/>
                <a:ea typeface="Helvetica Neue"/>
                <a:cs typeface="Helvetica Neue"/>
              </a:rPr>
              <a:t>Next steps</a:t>
            </a:r>
          </a:p>
          <a:p xmlns:a="http://schemas.openxmlformats.org/drawingml/2006/main">
            <a:pPr algn="l">
              <a:defRPr sz="2250" b="0">
                <a:solidFill>
                  <a:srgbClr val="F7F6F2"/>
                </a:solidFill>
                <a:latin typeface="Helvetica Neue"/>
                <a:ea typeface="Helvetica Neue"/>
                <a:cs typeface="Helvetica Neue"/>
              </a:defRPr>
            </a:pPr>
            <a:r>
              <a:rPr sz="2250" b="0">
                <a:solidFill>
                  <a:srgbClr val="F7F6F2"/>
                </a:solidFill>
                <a:latin typeface="Helvetica Neue"/>
                <a:ea typeface="Helvetica Neue"/>
                <a:cs typeface="Helvetica Neue"/>
              </a:rPr>
              <a:t>Settled</a:t>
            </a:r>
          </a:p>
        </p:txBody>
      </p:sp>
      <p:sp>
        <p:nvSpPr>
          <p:cNvPr id="5" name="record">
            <a:extLst xmlns:a="http://schemas.openxmlformats.org/drawingml/2006/main">
              <a:ext uri="{FF2B5EF4-FFF2-40B4-BE49-F238E27FC236}">
                <a16:creationId xmlns:a16="http://schemas.microsoft.com/office/drawing/2014/main" id="{44F0AACC-EF48-4075-8444-8DF58BEE98DB}"/>
              </a:ext>
            </a:extLst>
          </p:cNvPr>
          <p:cNvSpPr>
            <a:spLocks xmlns:a="http://schemas.openxmlformats.org/drawingml/2006/main" noGrp="1"/>
          </p:cNvSpPr>
          <p:nvPr/>
        </p:nvSpPr>
        <p:spPr>
          <a:xfrm xmlns:a="http://schemas.openxmlformats.org/drawingml/2006/main">
            <a:off x="4133850" y="4905375"/>
            <a:ext cx="7334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C5C7BF"/>
                </a:solidFill>
                <a:latin typeface="Helvetica Neue"/>
                <a:ea typeface="Helvetica Neue"/>
                <a:cs typeface="Helvetica Neue"/>
              </a:defRPr>
            </a:pPr>
            <a:r>
              <a:rPr sz="2100" b="0">
                <a:solidFill>
                  <a:srgbClr val="C5C7BF"/>
                </a:solidFill>
                <a:latin typeface="Helvetica Neue"/>
                <a:ea typeface="Helvetica Neue"/>
                <a:cs typeface="Helvetica Neue"/>
              </a:rPr>
              <a:t>ELSE keeps a live transcript and saves a Summary</a:t>
            </a:r>
          </a:p>
          <a:p xmlns:a="http://schemas.openxmlformats.org/drawingml/2006/main">
            <a:pPr algn="l">
              <a:defRPr sz="2100" b="0">
                <a:solidFill>
                  <a:srgbClr val="C5C7BF"/>
                </a:solidFill>
                <a:latin typeface="Helvetica Neue"/>
                <a:ea typeface="Helvetica Neue"/>
                <a:cs typeface="Helvetica Neue"/>
              </a:defRPr>
            </a:pPr>
            <a:r>
              <a:rPr sz="2100" b="0">
                <a:solidFill>
                  <a:srgbClr val="C5C7BF"/>
                </a:solidFill>
                <a:latin typeface="Helvetica Neue"/>
                <a:ea typeface="Helvetica Neue"/>
                <a:cs typeface="Helvetica Neue"/>
              </a:rPr>
              <a:t>with decisions, open questions and the full conversation.</a:t>
            </a:r>
          </a:p>
        </p:txBody>
      </p:sp>
    </p:spTree>
    <p:extLst>
      <p:ext uri="{BB962C8B-B14F-4D97-AF65-F5344CB8AC3E}">
        <p14:creationId xmlns:p14="http://schemas.microsoft.com/office/powerpoint/2010/main" val="449752532"/>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 name="experience-title">
            <a:extLst xmlns:a="http://schemas.openxmlformats.org/drawingml/2006/main">
              <a:ext uri="{FF2B5EF4-FFF2-40B4-BE49-F238E27FC236}">
                <a16:creationId xmlns:a16="http://schemas.microsoft.com/office/drawing/2014/main" id="{7187E9E9-05C1-43CA-A8F4-F445D9D30EC8}"/>
              </a:ext>
            </a:extLst>
          </p:cNvPr>
          <p:cNvSpPr>
            <a:spLocks xmlns:a="http://schemas.openxmlformats.org/drawingml/2006/main" noGrp="1"/>
          </p:cNvSpPr>
          <p:nvPr/>
        </p:nvSpPr>
        <p:spPr>
          <a:xfrm xmlns:a="http://schemas.openxmlformats.org/drawingml/2006/main">
            <a:off x="609600" y="2476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3030"/>
                </a:solidFill>
                <a:latin typeface="Helvetica Neue"/>
                <a:ea typeface="Helvetica Neue"/>
                <a:cs typeface="Helvetica Neue"/>
              </a:defRPr>
            </a:pPr>
            <a:r>
              <a:rPr sz="3300" b="1">
                <a:solidFill>
                  <a:srgbClr val="303030"/>
                </a:solidFill>
                <a:latin typeface="Helvetica Neue"/>
                <a:ea typeface="Helvetica Neue"/>
                <a:cs typeface="Helvetica Neue"/>
              </a:rPr>
              <a:t>Current topic. Eight directions.</a:t>
            </a:r>
          </a:p>
        </p:txBody>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a7225d4000cb439e"/>
          <a:stretch xmlns:a="http://schemas.openxmlformats.org/drawingml/2006/main"/>
        </p:blipFill>
        <p:spPr>
          <a:xfrm xmlns:a="http://schemas.openxmlformats.org/drawingml/2006/main">
            <a:off x="1104900" y="1066800"/>
            <a:ext cx="9982200" cy="5614988"/>
          </a:xfrm>
          <a:prstGeom xmlns:a="http://schemas.openxmlformats.org/drawingml/2006/main" prst="rect">
            <a:avLst/>
          </a:prstGeom>
        </p:spPr>
      </p:pic>
    </p:spTree>
    <p:extLst>
      <p:ext uri="{BB962C8B-B14F-4D97-AF65-F5344CB8AC3E}">
        <p14:creationId xmlns:p14="http://schemas.microsoft.com/office/powerpoint/2010/main" val="106344927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30483E19-CBE6-4459-AA86-F239869775E3}"/>
              </a:ext>
            </a:extLst>
          </p:cNvPr>
          <p:cNvSpPr>
            <a:spLocks xmlns:a="http://schemas.openxmlformats.org/drawingml/2006/main" noGrp="1"/>
          </p:cNvSpPr>
          <p:nvPr/>
        </p:nvSpPr>
        <p:spPr>
          <a:xfrm xmlns:a="http://schemas.openxmlformats.org/drawingml/2006/main">
            <a:off x="609600" y="457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747A6C"/>
                </a:solidFill>
                <a:latin typeface="Helvetica Neue"/>
                <a:ea typeface="Helvetica Neue"/>
                <a:cs typeface="Helvetica Neue"/>
              </a:defRPr>
            </a:pPr>
            <a:r>
              <a:rPr sz="1425" b="0">
                <a:solidFill>
                  <a:srgbClr val="747A6C"/>
                </a:solidFill>
                <a:latin typeface="Helvetica Neue"/>
                <a:ea typeface="Helvetica Neue"/>
                <a:cs typeface="Helvetica Neue"/>
              </a:rPr>
              <a:t>HOW IT WORKS</a:t>
            </a:r>
          </a:p>
        </p:txBody>
      </p:sp>
      <p:sp>
        <p:nvSpPr>
          <p:cNvPr id="2" name="architecture-title">
            <a:extLst xmlns:a="http://schemas.openxmlformats.org/drawingml/2006/main">
              <a:ext uri="{FF2B5EF4-FFF2-40B4-BE49-F238E27FC236}">
                <a16:creationId xmlns:a16="http://schemas.microsoft.com/office/drawing/2014/main" id="{032E7F4B-795F-429E-904D-2D66305D9BA6}"/>
              </a:ext>
            </a:extLst>
          </p:cNvPr>
          <p:cNvSpPr>
            <a:spLocks xmlns:a="http://schemas.openxmlformats.org/drawingml/2006/main" noGrp="1"/>
          </p:cNvSpPr>
          <p:nvPr/>
        </p:nvSpPr>
        <p:spPr>
          <a:xfrm xmlns:a="http://schemas.openxmlformats.org/drawingml/2006/main">
            <a:off x="609600" y="1228725"/>
            <a:ext cx="10810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050" b="1">
                <a:solidFill>
                  <a:srgbClr val="303030"/>
                </a:solidFill>
                <a:latin typeface="Helvetica Neue"/>
                <a:ea typeface="Helvetica Neue"/>
                <a:cs typeface="Helvetica Neue"/>
              </a:defRPr>
            </a:pPr>
            <a:r>
              <a:rPr sz="4050" b="1">
                <a:solidFill>
                  <a:srgbClr val="303030"/>
                </a:solidFill>
                <a:latin typeface="Helvetica Neue"/>
                <a:ea typeface="Helvetica Neue"/>
                <a:cs typeface="Helvetica Neue"/>
              </a:rPr>
              <a:t>Speech becomes useful context</a:t>
            </a:r>
          </a:p>
        </p:txBody>
      </p:sp>
      <p:sp>
        <p:nvSpPr>
          <p:cNvPr id="3" name="step-0">
            <a:extLst xmlns:a="http://schemas.openxmlformats.org/drawingml/2006/main">
              <a:ext uri="{FF2B5EF4-FFF2-40B4-BE49-F238E27FC236}">
                <a16:creationId xmlns:a16="http://schemas.microsoft.com/office/drawing/2014/main" id="{3177E96B-B027-4A95-96B0-B5EB2005A371}"/>
              </a:ext>
            </a:extLst>
          </p:cNvPr>
          <p:cNvSpPr>
            <a:spLocks xmlns:a="http://schemas.openxmlformats.org/drawingml/2006/main" noGrp="1"/>
          </p:cNvSpPr>
          <p:nvPr/>
        </p:nvSpPr>
        <p:spPr>
          <a:xfrm xmlns:a="http://schemas.openxmlformats.org/drawingml/2006/main">
            <a:off x="609600" y="3067050"/>
            <a:ext cx="2190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303030"/>
                </a:solidFill>
                <a:latin typeface="Helvetica Neue"/>
                <a:ea typeface="Helvetica Neue"/>
                <a:cs typeface="Helvetica Neue"/>
              </a:defRPr>
            </a:pPr>
            <a:r>
              <a:rPr sz="2550" b="1">
                <a:solidFill>
                  <a:srgbClr val="303030"/>
                </a:solidFill>
                <a:latin typeface="Helvetica Neue"/>
                <a:ea typeface="Helvetica Neue"/>
                <a:cs typeface="Helvetica Neue"/>
              </a:rPr>
              <a:t>Microphone</a:t>
            </a:r>
          </a:p>
        </p:txBody>
      </p:sp>
      <p:sp>
        <p:nvSpPr>
          <p:cNvPr id="4" name="step-caption-0">
            <a:extLst xmlns:a="http://schemas.openxmlformats.org/drawingml/2006/main">
              <a:ext uri="{FF2B5EF4-FFF2-40B4-BE49-F238E27FC236}">
                <a16:creationId xmlns:a16="http://schemas.microsoft.com/office/drawing/2014/main" id="{B4B15C88-52BC-4A24-AC14-AAF3699B36BC}"/>
              </a:ext>
            </a:extLst>
          </p:cNvPr>
          <p:cNvSpPr>
            <a:spLocks xmlns:a="http://schemas.openxmlformats.org/drawingml/2006/main" noGrp="1"/>
          </p:cNvSpPr>
          <p:nvPr/>
        </p:nvSpPr>
        <p:spPr>
          <a:xfrm xmlns:a="http://schemas.openxmlformats.org/drawingml/2006/main">
            <a:off x="609600" y="3848100"/>
            <a:ext cx="2190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Browser audio</a:t>
            </a:r>
          </a:p>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PCM16 at 16 kHz</a:t>
            </a:r>
          </a:p>
        </p:txBody>
      </p:sp>
      <p:sp>
        <p:nvSpPr>
          <p:cNvPr id="5" name="step-1">
            <a:extLst xmlns:a="http://schemas.openxmlformats.org/drawingml/2006/main">
              <a:ext uri="{FF2B5EF4-FFF2-40B4-BE49-F238E27FC236}">
                <a16:creationId xmlns:a16="http://schemas.microsoft.com/office/drawing/2014/main" id="{04DFCA35-7BEB-4667-B419-F703190DA38A}"/>
              </a:ext>
            </a:extLst>
          </p:cNvPr>
          <p:cNvSpPr>
            <a:spLocks xmlns:a="http://schemas.openxmlformats.org/drawingml/2006/main" noGrp="1"/>
          </p:cNvSpPr>
          <p:nvPr/>
        </p:nvSpPr>
        <p:spPr>
          <a:xfrm xmlns:a="http://schemas.openxmlformats.org/drawingml/2006/main">
            <a:off x="3581400" y="3067050"/>
            <a:ext cx="2238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303030"/>
                </a:solidFill>
                <a:latin typeface="Helvetica Neue"/>
                <a:ea typeface="Helvetica Neue"/>
                <a:cs typeface="Helvetica Neue"/>
              </a:defRPr>
            </a:pPr>
            <a:r>
              <a:rPr sz="2550" b="1">
                <a:solidFill>
                  <a:srgbClr val="303030"/>
                </a:solidFill>
                <a:latin typeface="Helvetica Neue"/>
                <a:ea typeface="Helvetica Neue"/>
                <a:cs typeface="Helvetica Neue"/>
              </a:rPr>
              <a:t>AssemblyAI</a:t>
            </a:r>
          </a:p>
        </p:txBody>
      </p:sp>
      <p:sp>
        <p:nvSpPr>
          <p:cNvPr id="6" name="step-caption-1">
            <a:extLst xmlns:a="http://schemas.openxmlformats.org/drawingml/2006/main">
              <a:ext uri="{FF2B5EF4-FFF2-40B4-BE49-F238E27FC236}">
                <a16:creationId xmlns:a16="http://schemas.microsoft.com/office/drawing/2014/main" id="{88071A01-9BC8-48E3-8BF4-632F2331FC6F}"/>
              </a:ext>
            </a:extLst>
          </p:cNvPr>
          <p:cNvSpPr>
            <a:spLocks xmlns:a="http://schemas.openxmlformats.org/drawingml/2006/main" noGrp="1"/>
          </p:cNvSpPr>
          <p:nvPr/>
        </p:nvSpPr>
        <p:spPr>
          <a:xfrm xmlns:a="http://schemas.openxmlformats.org/drawingml/2006/main">
            <a:off x="3581400" y="3848100"/>
            <a:ext cx="2238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Streaming STT</a:t>
            </a:r>
          </a:p>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Speaker labels</a:t>
            </a:r>
          </a:p>
        </p:txBody>
      </p:sp>
      <p:sp>
        <p:nvSpPr>
          <p:cNvPr id="7" name="step-2">
            <a:extLst xmlns:a="http://schemas.openxmlformats.org/drawingml/2006/main">
              <a:ext uri="{FF2B5EF4-FFF2-40B4-BE49-F238E27FC236}">
                <a16:creationId xmlns:a16="http://schemas.microsoft.com/office/drawing/2014/main" id="{40501A15-47F9-4E27-B5F2-D84AF077E834}"/>
              </a:ext>
            </a:extLst>
          </p:cNvPr>
          <p:cNvSpPr>
            <a:spLocks xmlns:a="http://schemas.openxmlformats.org/drawingml/2006/main" noGrp="1"/>
          </p:cNvSpPr>
          <p:nvPr/>
        </p:nvSpPr>
        <p:spPr>
          <a:xfrm xmlns:a="http://schemas.openxmlformats.org/drawingml/2006/main">
            <a:off x="6572250" y="3067050"/>
            <a:ext cx="2143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303030"/>
                </a:solidFill>
                <a:latin typeface="Helvetica Neue"/>
                <a:ea typeface="Helvetica Neue"/>
                <a:cs typeface="Helvetica Neue"/>
              </a:defRPr>
            </a:pPr>
            <a:r>
              <a:rPr sz="2550" b="1">
                <a:solidFill>
                  <a:srgbClr val="303030"/>
                </a:solidFill>
                <a:latin typeface="Helvetica Neue"/>
                <a:ea typeface="Helvetica Neue"/>
                <a:cs typeface="Helvetica Neue"/>
              </a:rPr>
              <a:t>Gemini</a:t>
            </a:r>
          </a:p>
        </p:txBody>
      </p:sp>
      <p:sp>
        <p:nvSpPr>
          <p:cNvPr id="8" name="step-caption-2">
            <a:extLst xmlns:a="http://schemas.openxmlformats.org/drawingml/2006/main">
              <a:ext uri="{FF2B5EF4-FFF2-40B4-BE49-F238E27FC236}">
                <a16:creationId xmlns:a16="http://schemas.microsoft.com/office/drawing/2014/main" id="{8DEF8165-AC6A-42B4-9D4E-436C8A63650F}"/>
              </a:ext>
            </a:extLst>
          </p:cNvPr>
          <p:cNvSpPr>
            <a:spLocks xmlns:a="http://schemas.openxmlformats.org/drawingml/2006/main" noGrp="1"/>
          </p:cNvSpPr>
          <p:nvPr/>
        </p:nvSpPr>
        <p:spPr>
          <a:xfrm xmlns:a="http://schemas.openxmlformats.org/drawingml/2006/main">
            <a:off x="6572250" y="3848100"/>
            <a:ext cx="2143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Via OpenRouter</a:t>
            </a:r>
          </a:p>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Questions and priorities</a:t>
            </a:r>
          </a:p>
        </p:txBody>
      </p:sp>
      <p:sp>
        <p:nvSpPr>
          <p:cNvPr id="9" name="step-3">
            <a:extLst xmlns:a="http://schemas.openxmlformats.org/drawingml/2006/main">
              <a:ext uri="{FF2B5EF4-FFF2-40B4-BE49-F238E27FC236}">
                <a16:creationId xmlns:a16="http://schemas.microsoft.com/office/drawing/2014/main" id="{672CC68C-9F37-415E-9FA9-9B9527790522}"/>
              </a:ext>
            </a:extLst>
          </p:cNvPr>
          <p:cNvSpPr>
            <a:spLocks xmlns:a="http://schemas.openxmlformats.org/drawingml/2006/main" noGrp="1"/>
          </p:cNvSpPr>
          <p:nvPr/>
        </p:nvSpPr>
        <p:spPr>
          <a:xfrm xmlns:a="http://schemas.openxmlformats.org/drawingml/2006/main">
            <a:off x="9525000" y="30670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550" b="1">
                <a:solidFill>
                  <a:srgbClr val="303030"/>
                </a:solidFill>
                <a:latin typeface="Helvetica Neue"/>
                <a:ea typeface="Helvetica Neue"/>
                <a:cs typeface="Helvetica Neue"/>
              </a:defRPr>
            </a:pPr>
            <a:r>
              <a:rPr sz="2550" b="1">
                <a:solidFill>
                  <a:srgbClr val="303030"/>
                </a:solidFill>
                <a:latin typeface="Helvetica Neue"/>
                <a:ea typeface="Helvetica Neue"/>
                <a:cs typeface="Helvetica Neue"/>
              </a:rPr>
              <a:t>Live canvas</a:t>
            </a:r>
          </a:p>
        </p:txBody>
      </p:sp>
      <p:sp>
        <p:nvSpPr>
          <p:cNvPr id="10" name="step-caption-3">
            <a:extLst xmlns:a="http://schemas.openxmlformats.org/drawingml/2006/main">
              <a:ext uri="{FF2B5EF4-FFF2-40B4-BE49-F238E27FC236}">
                <a16:creationId xmlns:a16="http://schemas.microsoft.com/office/drawing/2014/main" id="{915930A2-6599-4265-9EED-BF727392A8F8}"/>
              </a:ext>
            </a:extLst>
          </p:cNvPr>
          <p:cNvSpPr>
            <a:spLocks xmlns:a="http://schemas.openxmlformats.org/drawingml/2006/main" noGrp="1"/>
          </p:cNvSpPr>
          <p:nvPr/>
        </p:nvSpPr>
        <p:spPr>
          <a:xfrm xmlns:a="http://schemas.openxmlformats.org/drawingml/2006/main">
            <a:off x="9525000" y="3848100"/>
            <a:ext cx="20383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Current focus</a:t>
            </a:r>
          </a:p>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Useful next questions</a:t>
            </a:r>
          </a:p>
        </p:txBody>
      </p:sp>
      <p:cxnSp>
        <p:nvCxnSpPr>
          <p:cNvPr id="25" name=""/>
          <p:cNvCxnSpPr>
            <a:stCxn xmlns:a="http://schemas.openxmlformats.org/drawingml/2006/main" id="3" idx="3"/>
            <a:endCxn xmlns:a="http://schemas.openxmlformats.org/drawingml/2006/main" id="5" idx="1"/>
          </p:cNvCxnSpPr>
          <p:nvPr/>
        </p:nvCxnSpPr>
        <p:spPr>
          <a:xfrm xmlns:a="http://schemas.openxmlformats.org/drawingml/2006/main">
            <a:off x="2800350" y="3371850"/>
            <a:ext cx="781050" cy="0"/>
          </a:xfrm>
          <a:prstGeom xmlns:a="http://schemas.openxmlformats.org/drawingml/2006/main" prst="straightConnector1">
            <a:avLst/>
          </a:prstGeom>
          <a:ln xmlns:a="http://schemas.openxmlformats.org/drawingml/2006/main" w="14288">
            <a:solidFill>
              <a:srgbClr val="A9AEA0"/>
            </a:solidFill>
            <a:tailEnd type="arrow" w="sm" len="sm"/>
          </a:ln>
        </p:spPr>
      </p:cxnSp>
      <p:cxnSp>
        <p:nvCxnSpPr>
          <p:cNvPr id="26" name=""/>
          <p:cNvCxnSpPr>
            <a:stCxn xmlns:a="http://schemas.openxmlformats.org/drawingml/2006/main" id="5" idx="3"/>
            <a:endCxn xmlns:a="http://schemas.openxmlformats.org/drawingml/2006/main" id="7" idx="1"/>
          </p:cNvCxnSpPr>
          <p:nvPr/>
        </p:nvCxnSpPr>
        <p:spPr>
          <a:xfrm xmlns:a="http://schemas.openxmlformats.org/drawingml/2006/main">
            <a:off x="5819775" y="3371850"/>
            <a:ext cx="752475" cy="0"/>
          </a:xfrm>
          <a:prstGeom xmlns:a="http://schemas.openxmlformats.org/drawingml/2006/main" prst="straightConnector1">
            <a:avLst/>
          </a:prstGeom>
          <a:ln xmlns:a="http://schemas.openxmlformats.org/drawingml/2006/main" w="14288">
            <a:solidFill>
              <a:srgbClr val="A9AEA0"/>
            </a:solidFill>
            <a:tailEnd type="arrow" w="sm" len="sm"/>
          </a:ln>
        </p:spPr>
      </p:cxn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8715375" y="3371850"/>
            <a:ext cx="809625" cy="0"/>
          </a:xfrm>
          <a:prstGeom xmlns:a="http://schemas.openxmlformats.org/drawingml/2006/main" prst="straightConnector1">
            <a:avLst/>
          </a:prstGeom>
          <a:ln xmlns:a="http://schemas.openxmlformats.org/drawingml/2006/main" w="14288">
            <a:solidFill>
              <a:srgbClr val="A9AEA0"/>
            </a:solidFill>
            <a:tailEnd type="arrow" w="sm" len="sm"/>
          </a:ln>
        </p:spPr>
      </p:cxnSp>
      <p:sp>
        <p:nvSpPr>
          <p:cNvPr id="14" name="server-detail">
            <a:extLst xmlns:a="http://schemas.openxmlformats.org/drawingml/2006/main">
              <a:ext uri="{FF2B5EF4-FFF2-40B4-BE49-F238E27FC236}">
                <a16:creationId xmlns:a16="http://schemas.microsoft.com/office/drawing/2014/main" id="{0138D789-0F84-461C-A171-4B158D62A1AB}"/>
              </a:ext>
            </a:extLst>
          </p:cNvPr>
          <p:cNvSpPr>
            <a:spLocks xmlns:a="http://schemas.openxmlformats.org/drawingml/2006/main" noGrp="1"/>
          </p:cNvSpPr>
          <p:nvPr/>
        </p:nvSpPr>
        <p:spPr>
          <a:xfrm xmlns:a="http://schemas.openxmlformats.org/drawingml/2006/main">
            <a:off x="647700" y="581025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47A6C"/>
                </a:solidFill>
                <a:latin typeface="Helvetica Neue"/>
                <a:ea typeface="Helvetica Neue"/>
                <a:cs typeface="Helvetica Neue"/>
              </a:defRPr>
            </a:pPr>
            <a:r>
              <a:rPr sz="1800" b="0">
                <a:solidFill>
                  <a:srgbClr val="747A6C"/>
                </a:solidFill>
                <a:latin typeface="Helvetica Neue"/>
                <a:ea typeface="Helvetica Neue"/>
                <a:cs typeface="Helvetica Neue"/>
              </a:rPr>
              <a:t>Fastify routes the stream. Validation checks model output. SQLite saves the conversation.</a:t>
            </a:r>
          </a:p>
        </p:txBody>
      </p:sp>
    </p:spTree>
    <p:extLst>
      <p:ext uri="{BB962C8B-B14F-4D97-AF65-F5344CB8AC3E}">
        <p14:creationId xmlns:p14="http://schemas.microsoft.com/office/powerpoint/2010/main" val="1638226567"/>
      </p:ext>
    </p:extLst>
  </p:cSld>
</p:sld>
</file>

<file path=ppt/slides/slide6.xml><?xml version="1.0" encoding="utf-8"?>
<p:sld xmlns:p="http://schemas.openxmlformats.org/presentationml/2006/main">
  <p:cSld>
    <p:bg>
      <p:bgPr>
        <a:solidFill xmlns:a="http://schemas.openxmlformats.org/drawingml/2006/main">
          <a:srgbClr val="303030"/>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C1637238-A58E-457C-9440-16C056DBCEB5}"/>
              </a:ext>
            </a:extLst>
          </p:cNvPr>
          <p:cNvSpPr>
            <a:spLocks xmlns:a="http://schemas.openxmlformats.org/drawingml/2006/main" noGrp="1"/>
          </p:cNvSpPr>
          <p:nvPr/>
        </p:nvSpPr>
        <p:spPr>
          <a:xfrm xmlns:a="http://schemas.openxmlformats.org/drawingml/2006/main">
            <a:off x="609600" y="457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C5C7BF"/>
                </a:solidFill>
                <a:latin typeface="Helvetica Neue"/>
                <a:ea typeface="Helvetica Neue"/>
                <a:cs typeface="Helvetica Neue"/>
              </a:defRPr>
            </a:pPr>
            <a:r>
              <a:rPr sz="1425" b="0">
                <a:solidFill>
                  <a:srgbClr val="C5C7BF"/>
                </a:solidFill>
                <a:latin typeface="Helvetica Neue"/>
                <a:ea typeface="Helvetica Neue"/>
                <a:cs typeface="Helvetica Neue"/>
              </a:rPr>
              <a:t>THE VOICE LAYER</a:t>
            </a:r>
          </a:p>
        </p:txBody>
      </p:sp>
      <p:sp>
        <p:nvSpPr>
          <p:cNvPr id="2" name="aai-title">
            <a:extLst xmlns:a="http://schemas.openxmlformats.org/drawingml/2006/main">
              <a:ext uri="{FF2B5EF4-FFF2-40B4-BE49-F238E27FC236}">
                <a16:creationId xmlns:a16="http://schemas.microsoft.com/office/drawing/2014/main" id="{14BA2451-AD27-4AA9-AC37-E2452F1FE093}"/>
              </a:ext>
            </a:extLst>
          </p:cNvPr>
          <p:cNvSpPr>
            <a:spLocks xmlns:a="http://schemas.openxmlformats.org/drawingml/2006/main" noGrp="1"/>
          </p:cNvSpPr>
          <p:nvPr/>
        </p:nvSpPr>
        <p:spPr>
          <a:xfrm xmlns:a="http://schemas.openxmlformats.org/drawingml/2006/main">
            <a:off x="609600" y="1285875"/>
            <a:ext cx="5143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5550" b="1">
                <a:solidFill>
                  <a:srgbClr val="F7F6F2"/>
                </a:solidFill>
                <a:latin typeface="Helvetica Neue"/>
                <a:ea typeface="Helvetica Neue"/>
                <a:cs typeface="Helvetica Neue"/>
              </a:defRPr>
            </a:pPr>
            <a:r>
              <a:rPr sz="5550" b="1">
                <a:solidFill>
                  <a:srgbClr val="F7F6F2"/>
                </a:solidFill>
                <a:latin typeface="Helvetica Neue"/>
                <a:ea typeface="Helvetica Neue"/>
                <a:cs typeface="Helvetica Neue"/>
              </a:rPr>
              <a:t>AssemblyAI</a:t>
            </a:r>
          </a:p>
        </p:txBody>
      </p:sp>
      <p:sp>
        <p:nvSpPr>
          <p:cNvPr id="3" name="aai-model">
            <a:extLst xmlns:a="http://schemas.openxmlformats.org/drawingml/2006/main">
              <a:ext uri="{FF2B5EF4-FFF2-40B4-BE49-F238E27FC236}">
                <a16:creationId xmlns:a16="http://schemas.microsoft.com/office/drawing/2014/main" id="{61F8A611-48C9-42BC-B3F3-2B430F3B635B}"/>
              </a:ext>
            </a:extLst>
          </p:cNvPr>
          <p:cNvSpPr>
            <a:spLocks xmlns:a="http://schemas.openxmlformats.org/drawingml/2006/main" noGrp="1"/>
          </p:cNvSpPr>
          <p:nvPr/>
        </p:nvSpPr>
        <p:spPr>
          <a:xfrm xmlns:a="http://schemas.openxmlformats.org/drawingml/2006/main">
            <a:off x="647700" y="2552700"/>
            <a:ext cx="5000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0">
                <a:solidFill>
                  <a:srgbClr val="C5C7BF"/>
                </a:solidFill>
                <a:latin typeface="Helvetica Neue"/>
                <a:ea typeface="Helvetica Neue"/>
                <a:cs typeface="Helvetica Neue"/>
              </a:defRPr>
            </a:pPr>
            <a:r>
              <a:rPr sz="2250" b="0">
                <a:solidFill>
                  <a:srgbClr val="C5C7BF"/>
                </a:solidFill>
                <a:latin typeface="Helvetica Neue"/>
                <a:ea typeface="Helvetica Neue"/>
                <a:cs typeface="Helvetica Neue"/>
              </a:rPr>
              <a:t>Streaming Speech-to-Text v3</a:t>
            </a:r>
          </a:p>
          <a:p xmlns:a="http://schemas.openxmlformats.org/drawingml/2006/main">
            <a:pPr algn="l">
              <a:defRPr sz="2250" b="0">
                <a:solidFill>
                  <a:srgbClr val="C5C7BF"/>
                </a:solidFill>
                <a:latin typeface="Helvetica Neue"/>
                <a:ea typeface="Helvetica Neue"/>
                <a:cs typeface="Helvetica Neue"/>
              </a:defRPr>
            </a:pPr>
            <a:r>
              <a:rPr sz="2250" b="0">
                <a:solidFill>
                  <a:srgbClr val="C5C7BF"/>
                </a:solidFill>
                <a:latin typeface="Helvetica Neue"/>
                <a:ea typeface="Helvetica Neue"/>
                <a:cs typeface="Helvetica Neue"/>
              </a:rPr>
              <a:t>Universal-3.6 Pro Realtime</a:t>
            </a:r>
          </a:p>
        </p:txBody>
      </p:sp>
      <p:sp>
        <p:nvSpPr>
          <p:cNvPr id="4" name="aai-purpose">
            <a:extLst xmlns:a="http://schemas.openxmlformats.org/drawingml/2006/main">
              <a:ext uri="{FF2B5EF4-FFF2-40B4-BE49-F238E27FC236}">
                <a16:creationId xmlns:a16="http://schemas.microsoft.com/office/drawing/2014/main" id="{04153D1B-FDDF-46FF-A73C-D47C8AD9F03F}"/>
              </a:ext>
            </a:extLst>
          </p:cNvPr>
          <p:cNvSpPr>
            <a:spLocks xmlns:a="http://schemas.openxmlformats.org/drawingml/2006/main" noGrp="1"/>
          </p:cNvSpPr>
          <p:nvPr/>
        </p:nvSpPr>
        <p:spPr>
          <a:xfrm xmlns:a="http://schemas.openxmlformats.org/drawingml/2006/main">
            <a:off x="647700" y="4629150"/>
            <a:ext cx="49530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000" b="0">
                <a:solidFill>
                  <a:srgbClr val="F7F6F2"/>
                </a:solidFill>
                <a:latin typeface="Helvetica Neue"/>
                <a:ea typeface="Helvetica Neue"/>
                <a:cs typeface="Helvetica Neue"/>
              </a:defRPr>
            </a:pPr>
            <a:r>
              <a:rPr sz="3000" b="0">
                <a:solidFill>
                  <a:srgbClr val="F7F6F2"/>
                </a:solidFill>
                <a:latin typeface="Helvetica Neue"/>
                <a:ea typeface="Helvetica Neue"/>
                <a:cs typeface="Helvetica Neue"/>
              </a:rPr>
              <a:t>People keep talking.</a:t>
            </a:r>
          </a:p>
          <a:p xmlns:a="http://schemas.openxmlformats.org/drawingml/2006/main">
            <a:pPr algn="l">
              <a:defRPr sz="3000" b="0">
                <a:solidFill>
                  <a:srgbClr val="F7F6F2"/>
                </a:solidFill>
                <a:latin typeface="Helvetica Neue"/>
                <a:ea typeface="Helvetica Neue"/>
                <a:cs typeface="Helvetica Neue"/>
              </a:defRPr>
            </a:pPr>
            <a:r>
              <a:rPr sz="3000" b="0">
                <a:solidFill>
                  <a:srgbClr val="F7F6F2"/>
                </a:solidFill>
                <a:latin typeface="Helvetica Neue"/>
                <a:ea typeface="Helvetica Neue"/>
                <a:cs typeface="Helvetica Neue"/>
              </a:rPr>
              <a:t>ELSE keeps listening.</a:t>
            </a:r>
          </a:p>
        </p:txBody>
      </p:sp>
      <p:sp>
        <p:nvSpPr>
          <p:cNvPr id="5" name="live-title">
            <a:extLst xmlns:a="http://schemas.openxmlformats.org/drawingml/2006/main">
              <a:ext uri="{FF2B5EF4-FFF2-40B4-BE49-F238E27FC236}">
                <a16:creationId xmlns:a16="http://schemas.microsoft.com/office/drawing/2014/main" id="{1A4414CE-B74C-4D67-A077-19C44896F1D0}"/>
              </a:ext>
            </a:extLst>
          </p:cNvPr>
          <p:cNvSpPr>
            <a:spLocks xmlns:a="http://schemas.openxmlformats.org/drawingml/2006/main" noGrp="1"/>
          </p:cNvSpPr>
          <p:nvPr/>
        </p:nvSpPr>
        <p:spPr>
          <a:xfrm xmlns:a="http://schemas.openxmlformats.org/drawingml/2006/main">
            <a:off x="6667500" y="1581150"/>
            <a:ext cx="4810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F7F6F2"/>
                </a:solidFill>
                <a:latin typeface="Helvetica Neue"/>
                <a:ea typeface="Helvetica Neue"/>
                <a:cs typeface="Helvetica Neue"/>
              </a:defRPr>
            </a:pPr>
            <a:r>
              <a:rPr sz="2475" b="1">
                <a:solidFill>
                  <a:srgbClr val="F7F6F2"/>
                </a:solidFill>
                <a:latin typeface="Helvetica Neue"/>
                <a:ea typeface="Helvetica Neue"/>
                <a:cs typeface="Helvetica Neue"/>
              </a:rPr>
              <a:t>Live transcription</a:t>
            </a:r>
          </a:p>
        </p:txBody>
      </p:sp>
      <p:sp>
        <p:nvSpPr>
          <p:cNvPr id="6" name="live-body">
            <a:extLst xmlns:a="http://schemas.openxmlformats.org/drawingml/2006/main">
              <a:ext uri="{FF2B5EF4-FFF2-40B4-BE49-F238E27FC236}">
                <a16:creationId xmlns:a16="http://schemas.microsoft.com/office/drawing/2014/main" id="{17E41AB3-E1B3-4B62-B5AF-247754A3D4D1}"/>
              </a:ext>
            </a:extLst>
          </p:cNvPr>
          <p:cNvSpPr>
            <a:spLocks xmlns:a="http://schemas.openxmlformats.org/drawingml/2006/main" noGrp="1"/>
          </p:cNvSpPr>
          <p:nvPr/>
        </p:nvSpPr>
        <p:spPr>
          <a:xfrm xmlns:a="http://schemas.openxmlformats.org/drawingml/2006/main">
            <a:off x="6667500" y="2152650"/>
            <a:ext cx="4810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C5C7BF"/>
                </a:solidFill>
                <a:latin typeface="Helvetica Neue"/>
                <a:ea typeface="Helvetica Neue"/>
                <a:cs typeface="Helvetica Neue"/>
              </a:defRPr>
            </a:pPr>
            <a:r>
              <a:rPr sz="2025" b="0">
                <a:solidFill>
                  <a:srgbClr val="C5C7BF"/>
                </a:solidFill>
                <a:latin typeface="Helvetica Neue"/>
                <a:ea typeface="Helvetica Neue"/>
                <a:cs typeface="Helvetica Neue"/>
              </a:rPr>
              <a:t>Partial turns appear</a:t>
            </a:r>
          </a:p>
          <a:p xmlns:a="http://schemas.openxmlformats.org/drawingml/2006/main">
            <a:pPr algn="l">
              <a:defRPr sz="2025" b="0">
                <a:solidFill>
                  <a:srgbClr val="C5C7BF"/>
                </a:solidFill>
                <a:latin typeface="Helvetica Neue"/>
                <a:ea typeface="Helvetica Neue"/>
                <a:cs typeface="Helvetica Neue"/>
              </a:defRPr>
            </a:pPr>
            <a:r>
              <a:rPr sz="2025" b="0">
                <a:solidFill>
                  <a:srgbClr val="C5C7BF"/>
                </a:solidFill>
                <a:latin typeface="Helvetica Neue"/>
                <a:ea typeface="Helvetica Neue"/>
                <a:cs typeface="Helvetica Neue"/>
              </a:rPr>
              <a:t>as people speak.</a:t>
            </a:r>
          </a:p>
        </p:txBody>
      </p:sp>
      <p:sp>
        <p:nvSpPr>
          <p:cNvPr id="7" name="speaker-title">
            <a:extLst xmlns:a="http://schemas.openxmlformats.org/drawingml/2006/main">
              <a:ext uri="{FF2B5EF4-FFF2-40B4-BE49-F238E27FC236}">
                <a16:creationId xmlns:a16="http://schemas.microsoft.com/office/drawing/2014/main" id="{7870C2D1-1FC4-410D-A392-69E41C13EADC}"/>
              </a:ext>
            </a:extLst>
          </p:cNvPr>
          <p:cNvSpPr>
            <a:spLocks xmlns:a="http://schemas.openxmlformats.org/drawingml/2006/main" noGrp="1"/>
          </p:cNvSpPr>
          <p:nvPr/>
        </p:nvSpPr>
        <p:spPr>
          <a:xfrm xmlns:a="http://schemas.openxmlformats.org/drawingml/2006/main">
            <a:off x="6667500" y="34004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F7F6F2"/>
                </a:solidFill>
                <a:latin typeface="Helvetica Neue"/>
                <a:ea typeface="Helvetica Neue"/>
                <a:cs typeface="Helvetica Neue"/>
              </a:defRPr>
            </a:pPr>
            <a:r>
              <a:rPr sz="2475" b="1">
                <a:solidFill>
                  <a:srgbClr val="F7F6F2"/>
                </a:solidFill>
                <a:latin typeface="Helvetica Neue"/>
                <a:ea typeface="Helvetica Neue"/>
                <a:cs typeface="Helvetica Neue"/>
              </a:rPr>
              <a:t>Speaker diarization</a:t>
            </a:r>
          </a:p>
        </p:txBody>
      </p:sp>
      <p:sp>
        <p:nvSpPr>
          <p:cNvPr id="8" name="speaker-body">
            <a:extLst xmlns:a="http://schemas.openxmlformats.org/drawingml/2006/main">
              <a:ext uri="{FF2B5EF4-FFF2-40B4-BE49-F238E27FC236}">
                <a16:creationId xmlns:a16="http://schemas.microsoft.com/office/drawing/2014/main" id="{3EDCC807-DAA6-40AF-8314-51AC00C88F39}"/>
              </a:ext>
            </a:extLst>
          </p:cNvPr>
          <p:cNvSpPr>
            <a:spLocks xmlns:a="http://schemas.openxmlformats.org/drawingml/2006/main" noGrp="1"/>
          </p:cNvSpPr>
          <p:nvPr/>
        </p:nvSpPr>
        <p:spPr>
          <a:xfrm xmlns:a="http://schemas.openxmlformats.org/drawingml/2006/main">
            <a:off x="6667500" y="3981450"/>
            <a:ext cx="4810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C5C7BF"/>
                </a:solidFill>
                <a:latin typeface="Helvetica Neue"/>
                <a:ea typeface="Helvetica Neue"/>
                <a:cs typeface="Helvetica Neue"/>
              </a:defRPr>
            </a:pPr>
            <a:r>
              <a:rPr sz="2025" b="0">
                <a:solidFill>
                  <a:srgbClr val="C5C7BF"/>
                </a:solidFill>
                <a:latin typeface="Helvetica Neue"/>
                <a:ea typeface="Helvetica Neue"/>
                <a:cs typeface="Helvetica Neue"/>
              </a:rPr>
              <a:t>Person 1, Person 2 and more.</a:t>
            </a:r>
          </a:p>
          <a:p xmlns:a="http://schemas.openxmlformats.org/drawingml/2006/main">
            <a:pPr algn="l">
              <a:defRPr sz="2025" b="0">
                <a:solidFill>
                  <a:srgbClr val="C5C7BF"/>
                </a:solidFill>
                <a:latin typeface="Helvetica Neue"/>
                <a:ea typeface="Helvetica Neue"/>
                <a:cs typeface="Helvetica Neue"/>
              </a:defRPr>
            </a:pPr>
            <a:r>
              <a:rPr sz="2025" b="0">
                <a:solidFill>
                  <a:srgbClr val="C5C7BF"/>
                </a:solidFill>
                <a:latin typeface="Helvetica Neue"/>
                <a:ea typeface="Helvetica Neue"/>
                <a:cs typeface="Helvetica Neue"/>
              </a:rPr>
              <a:t>Unknown when uncertain.</a:t>
            </a:r>
          </a:p>
        </p:txBody>
      </p:sp>
      <p:sp>
        <p:nvSpPr>
          <p:cNvPr id="9" name="turn-title">
            <a:extLst xmlns:a="http://schemas.openxmlformats.org/drawingml/2006/main">
              <a:ext uri="{FF2B5EF4-FFF2-40B4-BE49-F238E27FC236}">
                <a16:creationId xmlns:a16="http://schemas.microsoft.com/office/drawing/2014/main" id="{C0D2319F-D936-4043-B214-304114674E96}"/>
              </a:ext>
            </a:extLst>
          </p:cNvPr>
          <p:cNvSpPr>
            <a:spLocks xmlns:a="http://schemas.openxmlformats.org/drawingml/2006/main" noGrp="1"/>
          </p:cNvSpPr>
          <p:nvPr/>
        </p:nvSpPr>
        <p:spPr>
          <a:xfrm xmlns:a="http://schemas.openxmlformats.org/drawingml/2006/main">
            <a:off x="6667500" y="5219700"/>
            <a:ext cx="4810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75" b="1">
                <a:solidFill>
                  <a:srgbClr val="F7F6F2"/>
                </a:solidFill>
                <a:latin typeface="Helvetica Neue"/>
                <a:ea typeface="Helvetica Neue"/>
                <a:cs typeface="Helvetica Neue"/>
              </a:defRPr>
            </a:pPr>
            <a:r>
              <a:rPr sz="2475" b="1">
                <a:solidFill>
                  <a:srgbClr val="F7F6F2"/>
                </a:solidFill>
                <a:latin typeface="Helvetica Neue"/>
                <a:ea typeface="Helvetica Neue"/>
                <a:cs typeface="Helvetica Neue"/>
              </a:rPr>
              <a:t>Completed turns</a:t>
            </a:r>
          </a:p>
        </p:txBody>
      </p:sp>
      <p:sp>
        <p:nvSpPr>
          <p:cNvPr id="10" name="turn-body">
            <a:extLst xmlns:a="http://schemas.openxmlformats.org/drawingml/2006/main">
              <a:ext uri="{FF2B5EF4-FFF2-40B4-BE49-F238E27FC236}">
                <a16:creationId xmlns:a16="http://schemas.microsoft.com/office/drawing/2014/main" id="{DE93A831-BEDE-40E4-A343-4FC04DEA39A7}"/>
              </a:ext>
            </a:extLst>
          </p:cNvPr>
          <p:cNvSpPr>
            <a:spLocks xmlns:a="http://schemas.openxmlformats.org/drawingml/2006/main" noGrp="1"/>
          </p:cNvSpPr>
          <p:nvPr/>
        </p:nvSpPr>
        <p:spPr>
          <a:xfrm xmlns:a="http://schemas.openxmlformats.org/drawingml/2006/main">
            <a:off x="6667500" y="5791200"/>
            <a:ext cx="4810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025" b="0">
                <a:solidFill>
                  <a:srgbClr val="C5C7BF"/>
                </a:solidFill>
                <a:latin typeface="Helvetica Neue"/>
                <a:ea typeface="Helvetica Neue"/>
                <a:cs typeface="Helvetica Neue"/>
              </a:defRPr>
            </a:pPr>
            <a:r>
              <a:rPr sz="2025" b="0">
                <a:solidFill>
                  <a:srgbClr val="C5C7BF"/>
                </a:solidFill>
                <a:latin typeface="Helvetica Neue"/>
                <a:ea typeface="Helvetica Neue"/>
                <a:cs typeface="Helvetica Neue"/>
              </a:rPr>
              <a:t>Trigger context analysis.</a:t>
            </a:r>
          </a:p>
        </p:txBody>
      </p:sp>
    </p:spTree>
    <p:extLst>
      <p:ext uri="{BB962C8B-B14F-4D97-AF65-F5344CB8AC3E}">
        <p14:creationId xmlns:p14="http://schemas.microsoft.com/office/powerpoint/2010/main" val="822684383"/>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477878F3-0138-4B6A-854C-EDD4C7011204}"/>
              </a:ext>
            </a:extLst>
          </p:cNvPr>
          <p:cNvSpPr>
            <a:spLocks xmlns:a="http://schemas.openxmlformats.org/drawingml/2006/main" noGrp="1"/>
          </p:cNvSpPr>
          <p:nvPr/>
        </p:nvSpPr>
        <p:spPr>
          <a:xfrm xmlns:a="http://schemas.openxmlformats.org/drawingml/2006/main">
            <a:off x="609600" y="4572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747A6C"/>
                </a:solidFill>
                <a:latin typeface="Helvetica Neue"/>
                <a:ea typeface="Helvetica Neue"/>
                <a:cs typeface="Helvetica Neue"/>
              </a:defRPr>
            </a:pPr>
            <a:r>
              <a:rPr sz="1425" b="0">
                <a:solidFill>
                  <a:srgbClr val="747A6C"/>
                </a:solidFill>
                <a:latin typeface="Helvetica Neue"/>
                <a:ea typeface="Helvetica Neue"/>
                <a:cs typeface="Helvetica Neue"/>
              </a:rPr>
              <a:t>WHERE IT HELPS</a:t>
            </a:r>
          </a:p>
        </p:txBody>
      </p:sp>
      <p:sp>
        <p:nvSpPr>
          <p:cNvPr id="2" name="closing-title">
            <a:extLst xmlns:a="http://schemas.openxmlformats.org/drawingml/2006/main">
              <a:ext uri="{FF2B5EF4-FFF2-40B4-BE49-F238E27FC236}">
                <a16:creationId xmlns:a16="http://schemas.microsoft.com/office/drawing/2014/main" id="{A1F3D125-5438-4D77-B4B0-B18D967D8BBD}"/>
              </a:ext>
            </a:extLst>
          </p:cNvPr>
          <p:cNvSpPr>
            <a:spLocks xmlns:a="http://schemas.openxmlformats.org/drawingml/2006/main" noGrp="1"/>
          </p:cNvSpPr>
          <p:nvPr/>
        </p:nvSpPr>
        <p:spPr>
          <a:xfrm xmlns:a="http://schemas.openxmlformats.org/drawingml/2006/main">
            <a:off x="609600" y="1438275"/>
            <a:ext cx="628650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4800" b="1">
                <a:solidFill>
                  <a:srgbClr val="303030"/>
                </a:solidFill>
                <a:latin typeface="Helvetica Neue"/>
                <a:ea typeface="Helvetica Neue"/>
                <a:cs typeface="Helvetica Neue"/>
              </a:defRPr>
            </a:pPr>
            <a:r>
              <a:rPr sz="4800" b="1">
                <a:solidFill>
                  <a:srgbClr val="303030"/>
                </a:solidFill>
                <a:latin typeface="Helvetica Neue"/>
                <a:ea typeface="Helvetica Neue"/>
                <a:cs typeface="Helvetica Neue"/>
              </a:rPr>
              <a:t>See what still</a:t>
            </a:r>
          </a:p>
          <a:p xmlns:a="http://schemas.openxmlformats.org/drawingml/2006/main">
            <a:pPr algn="l">
              <a:defRPr sz="4800" b="1">
                <a:solidFill>
                  <a:srgbClr val="303030"/>
                </a:solidFill>
                <a:latin typeface="Helvetica Neue"/>
                <a:ea typeface="Helvetica Neue"/>
                <a:cs typeface="Helvetica Neue"/>
              </a:defRPr>
            </a:pPr>
            <a:r>
              <a:rPr sz="4800" b="1">
                <a:solidFill>
                  <a:srgbClr val="303030"/>
                </a:solidFill>
                <a:latin typeface="Helvetica Neue"/>
                <a:ea typeface="Helvetica Neue"/>
                <a:cs typeface="Helvetica Neue"/>
              </a:rPr>
              <a:t>needs to be said</a:t>
            </a:r>
          </a:p>
        </p:txBody>
      </p:sp>
      <p:sp>
        <p:nvSpPr>
          <p:cNvPr id="3" name="closing-body">
            <a:extLst xmlns:a="http://schemas.openxmlformats.org/drawingml/2006/main">
              <a:ext uri="{FF2B5EF4-FFF2-40B4-BE49-F238E27FC236}">
                <a16:creationId xmlns:a16="http://schemas.microsoft.com/office/drawing/2014/main" id="{DA837FCD-0365-459A-B8AC-146E39A85F83}"/>
              </a:ext>
            </a:extLst>
          </p:cNvPr>
          <p:cNvSpPr>
            <a:spLocks xmlns:a="http://schemas.openxmlformats.org/drawingml/2006/main" noGrp="1"/>
          </p:cNvSpPr>
          <p:nvPr/>
        </p:nvSpPr>
        <p:spPr>
          <a:xfrm xmlns:a="http://schemas.openxmlformats.org/drawingml/2006/main">
            <a:off x="647700" y="388620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325" b="0">
                <a:solidFill>
                  <a:srgbClr val="303030"/>
                </a:solidFill>
                <a:latin typeface="Helvetica Neue"/>
                <a:ea typeface="Helvetica Neue"/>
                <a:cs typeface="Helvetica Neue"/>
              </a:defRPr>
            </a:pPr>
            <a:r>
              <a:rPr sz="2325" b="0">
                <a:solidFill>
                  <a:srgbClr val="303030"/>
                </a:solidFill>
                <a:latin typeface="Helvetica Neue"/>
                <a:ea typeface="Helvetica Neue"/>
                <a:cs typeface="Helvetica Neue"/>
              </a:rPr>
              <a:t>ELSE extends the conversation</a:t>
            </a:r>
          </a:p>
          <a:p xmlns:a="http://schemas.openxmlformats.org/drawingml/2006/main">
            <a:pPr algn="l">
              <a:defRPr sz="2325" b="0">
                <a:solidFill>
                  <a:srgbClr val="303030"/>
                </a:solidFill>
                <a:latin typeface="Helvetica Neue"/>
                <a:ea typeface="Helvetica Neue"/>
                <a:cs typeface="Helvetica Neue"/>
              </a:defRPr>
            </a:pPr>
            <a:r>
              <a:rPr sz="2325" b="0">
                <a:solidFill>
                  <a:srgbClr val="303030"/>
                </a:solidFill>
                <a:latin typeface="Helvetica Neue"/>
                <a:ea typeface="Helvetica Neue"/>
                <a:cs typeface="Helvetica Neue"/>
              </a:rPr>
              <a:t>while people remain in control.</a:t>
            </a:r>
          </a:p>
        </p:txBody>
      </p:sp>
      <p:sp>
        <p:nvSpPr>
          <p:cNvPr id="4" name="case-0">
            <a:extLst xmlns:a="http://schemas.openxmlformats.org/drawingml/2006/main">
              <a:ext uri="{FF2B5EF4-FFF2-40B4-BE49-F238E27FC236}">
                <a16:creationId xmlns:a16="http://schemas.microsoft.com/office/drawing/2014/main" id="{4818444E-5F7D-48F3-98A2-7160F1661704}"/>
              </a:ext>
            </a:extLst>
          </p:cNvPr>
          <p:cNvSpPr>
            <a:spLocks xmlns:a="http://schemas.openxmlformats.org/drawingml/2006/main" noGrp="1"/>
          </p:cNvSpPr>
          <p:nvPr/>
        </p:nvSpPr>
        <p:spPr>
          <a:xfrm xmlns:a="http://schemas.openxmlformats.org/drawingml/2006/main">
            <a:off x="8039100" y="13620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03030"/>
                </a:solidFill>
                <a:latin typeface="Helvetica Neue"/>
                <a:ea typeface="Helvetica Neue"/>
                <a:cs typeface="Helvetica Neue"/>
              </a:defRPr>
            </a:pPr>
            <a:r>
              <a:rPr sz="2250" b="1">
                <a:solidFill>
                  <a:srgbClr val="303030"/>
                </a:solidFill>
                <a:latin typeface="Helvetica Neue"/>
                <a:ea typeface="Helvetica Neue"/>
                <a:cs typeface="Helvetica Neue"/>
              </a:rPr>
              <a:t>Project planning</a:t>
            </a:r>
          </a:p>
        </p:txBody>
      </p:sp>
      <p:sp>
        <p:nvSpPr>
          <p:cNvPr id="5" name="case-detail-0">
            <a:extLst xmlns:a="http://schemas.openxmlformats.org/drawingml/2006/main">
              <a:ext uri="{FF2B5EF4-FFF2-40B4-BE49-F238E27FC236}">
                <a16:creationId xmlns:a16="http://schemas.microsoft.com/office/drawing/2014/main" id="{62B86AAE-FCEE-4B50-80AE-E236F25F7BD6}"/>
              </a:ext>
            </a:extLst>
          </p:cNvPr>
          <p:cNvSpPr>
            <a:spLocks xmlns:a="http://schemas.openxmlformats.org/drawingml/2006/main" noGrp="1"/>
          </p:cNvSpPr>
          <p:nvPr/>
        </p:nvSpPr>
        <p:spPr>
          <a:xfrm xmlns:a="http://schemas.openxmlformats.org/drawingml/2006/main">
            <a:off x="8039100" y="18669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Missing constraints</a:t>
            </a:r>
          </a:p>
        </p:txBody>
      </p:sp>
      <p:sp>
        <p:nvSpPr>
          <p:cNvPr id="6" name="case-1">
            <a:extLst xmlns:a="http://schemas.openxmlformats.org/drawingml/2006/main">
              <a:ext uri="{FF2B5EF4-FFF2-40B4-BE49-F238E27FC236}">
                <a16:creationId xmlns:a16="http://schemas.microsoft.com/office/drawing/2014/main" id="{5B196578-C0D5-4B50-B323-9ED52CEACEB0}"/>
              </a:ext>
            </a:extLst>
          </p:cNvPr>
          <p:cNvSpPr>
            <a:spLocks xmlns:a="http://schemas.openxmlformats.org/drawingml/2006/main" noGrp="1"/>
          </p:cNvSpPr>
          <p:nvPr/>
        </p:nvSpPr>
        <p:spPr>
          <a:xfrm xmlns:a="http://schemas.openxmlformats.org/drawingml/2006/main">
            <a:off x="8039100" y="24669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03030"/>
                </a:solidFill>
                <a:latin typeface="Helvetica Neue"/>
                <a:ea typeface="Helvetica Neue"/>
                <a:cs typeface="Helvetica Neue"/>
              </a:defRPr>
            </a:pPr>
            <a:r>
              <a:rPr sz="2250" b="1">
                <a:solidFill>
                  <a:srgbClr val="303030"/>
                </a:solidFill>
                <a:latin typeface="Helvetica Neue"/>
                <a:ea typeface="Helvetica Neue"/>
                <a:cs typeface="Helvetica Neue"/>
              </a:rPr>
              <a:t>Negotiations</a:t>
            </a:r>
          </a:p>
        </p:txBody>
      </p:sp>
      <p:sp>
        <p:nvSpPr>
          <p:cNvPr id="7" name="case-detail-1">
            <a:extLst xmlns:a="http://schemas.openxmlformats.org/drawingml/2006/main">
              <a:ext uri="{FF2B5EF4-FFF2-40B4-BE49-F238E27FC236}">
                <a16:creationId xmlns:a16="http://schemas.microsoft.com/office/drawing/2014/main" id="{DCAC13E0-98AE-4FB4-BF0F-1F3F1566CB38}"/>
              </a:ext>
            </a:extLst>
          </p:cNvPr>
          <p:cNvSpPr>
            <a:spLocks xmlns:a="http://schemas.openxmlformats.org/drawingml/2006/main" noGrp="1"/>
          </p:cNvSpPr>
          <p:nvPr/>
        </p:nvSpPr>
        <p:spPr>
          <a:xfrm xmlns:a="http://schemas.openxmlformats.org/drawingml/2006/main">
            <a:off x="8039100" y="29718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Questions and commitments</a:t>
            </a:r>
          </a:p>
        </p:txBody>
      </p:sp>
      <p:sp>
        <p:nvSpPr>
          <p:cNvPr id="8" name="case-2">
            <a:extLst xmlns:a="http://schemas.openxmlformats.org/drawingml/2006/main">
              <a:ext uri="{FF2B5EF4-FFF2-40B4-BE49-F238E27FC236}">
                <a16:creationId xmlns:a16="http://schemas.microsoft.com/office/drawing/2014/main" id="{CFA5589B-68EA-4C9B-BDB5-5D3A31F82E3C}"/>
              </a:ext>
            </a:extLst>
          </p:cNvPr>
          <p:cNvSpPr>
            <a:spLocks xmlns:a="http://schemas.openxmlformats.org/drawingml/2006/main" noGrp="1"/>
          </p:cNvSpPr>
          <p:nvPr/>
        </p:nvSpPr>
        <p:spPr>
          <a:xfrm xmlns:a="http://schemas.openxmlformats.org/drawingml/2006/main">
            <a:off x="8039100" y="35718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03030"/>
                </a:solidFill>
                <a:latin typeface="Helvetica Neue"/>
                <a:ea typeface="Helvetica Neue"/>
                <a:cs typeface="Helvetica Neue"/>
              </a:defRPr>
            </a:pPr>
            <a:r>
              <a:rPr sz="2250" b="1">
                <a:solidFill>
                  <a:srgbClr val="303030"/>
                </a:solidFill>
                <a:latin typeface="Helvetica Neue"/>
                <a:ea typeface="Helvetica Neue"/>
                <a:cs typeface="Helvetica Neue"/>
              </a:rPr>
              <a:t>Interviews</a:t>
            </a:r>
          </a:p>
        </p:txBody>
      </p:sp>
      <p:sp>
        <p:nvSpPr>
          <p:cNvPr id="9" name="case-detail-2">
            <a:extLst xmlns:a="http://schemas.openxmlformats.org/drawingml/2006/main">
              <a:ext uri="{FF2B5EF4-FFF2-40B4-BE49-F238E27FC236}">
                <a16:creationId xmlns:a16="http://schemas.microsoft.com/office/drawing/2014/main" id="{7EBA12B6-A149-4556-BCD0-DC65CAB702C8}"/>
              </a:ext>
            </a:extLst>
          </p:cNvPr>
          <p:cNvSpPr>
            <a:spLocks xmlns:a="http://schemas.openxmlformats.org/drawingml/2006/main" noGrp="1"/>
          </p:cNvSpPr>
          <p:nvPr/>
        </p:nvSpPr>
        <p:spPr>
          <a:xfrm xmlns:a="http://schemas.openxmlformats.org/drawingml/2006/main">
            <a:off x="8039100" y="40767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Unanswered areas</a:t>
            </a:r>
          </a:p>
        </p:txBody>
      </p:sp>
      <p:sp>
        <p:nvSpPr>
          <p:cNvPr id="10" name="case-3">
            <a:extLst xmlns:a="http://schemas.openxmlformats.org/drawingml/2006/main">
              <a:ext uri="{FF2B5EF4-FFF2-40B4-BE49-F238E27FC236}">
                <a16:creationId xmlns:a16="http://schemas.microsoft.com/office/drawing/2014/main" id="{243839CC-1860-4D3D-988B-F6EB91BD38E0}"/>
              </a:ext>
            </a:extLst>
          </p:cNvPr>
          <p:cNvSpPr>
            <a:spLocks xmlns:a="http://schemas.openxmlformats.org/drawingml/2006/main" noGrp="1"/>
          </p:cNvSpPr>
          <p:nvPr/>
        </p:nvSpPr>
        <p:spPr>
          <a:xfrm xmlns:a="http://schemas.openxmlformats.org/drawingml/2006/main">
            <a:off x="8039100" y="4676775"/>
            <a:ext cx="3429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303030"/>
                </a:solidFill>
                <a:latin typeface="Helvetica Neue"/>
                <a:ea typeface="Helvetica Neue"/>
                <a:cs typeface="Helvetica Neue"/>
              </a:defRPr>
            </a:pPr>
            <a:r>
              <a:rPr sz="2250" b="1">
                <a:solidFill>
                  <a:srgbClr val="303030"/>
                </a:solidFill>
                <a:latin typeface="Helvetica Neue"/>
                <a:ea typeface="Helvetica Neue"/>
                <a:cs typeface="Helvetica Neue"/>
              </a:rPr>
              <a:t>Brainstorming</a:t>
            </a:r>
          </a:p>
        </p:txBody>
      </p:sp>
      <p:sp>
        <p:nvSpPr>
          <p:cNvPr id="11" name="case-detail-3">
            <a:extLst xmlns:a="http://schemas.openxmlformats.org/drawingml/2006/main">
              <a:ext uri="{FF2B5EF4-FFF2-40B4-BE49-F238E27FC236}">
                <a16:creationId xmlns:a16="http://schemas.microsoft.com/office/drawing/2014/main" id="{911FC626-8C49-4645-9406-1E3E667F12C7}"/>
              </a:ext>
            </a:extLst>
          </p:cNvPr>
          <p:cNvSpPr>
            <a:spLocks xmlns:a="http://schemas.openxmlformats.org/drawingml/2006/main" noGrp="1"/>
          </p:cNvSpPr>
          <p:nvPr/>
        </p:nvSpPr>
        <p:spPr>
          <a:xfrm xmlns:a="http://schemas.openxmlformats.org/drawingml/2006/main">
            <a:off x="8039100" y="5181600"/>
            <a:ext cx="342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47A6C"/>
                </a:solidFill>
                <a:latin typeface="Helvetica Neue"/>
                <a:ea typeface="Helvetica Neue"/>
                <a:cs typeface="Helvetica Neue"/>
              </a:defRPr>
            </a:pPr>
            <a:r>
              <a:rPr sz="1725" b="0">
                <a:solidFill>
                  <a:srgbClr val="747A6C"/>
                </a:solidFill>
                <a:latin typeface="Helvetica Neue"/>
                <a:ea typeface="Helvetica Neue"/>
                <a:cs typeface="Helvetica Neue"/>
              </a:rPr>
              <a:t>Overlooked directions</a:t>
            </a:r>
          </a:p>
        </p:txBody>
      </p:sp>
      <p:sp>
        <p:nvSpPr>
          <p:cNvPr id="12" name="repository">
            <a:extLst xmlns:a="http://schemas.openxmlformats.org/drawingml/2006/main">
              <a:ext uri="{FF2B5EF4-FFF2-40B4-BE49-F238E27FC236}">
                <a16:creationId xmlns:a16="http://schemas.microsoft.com/office/drawing/2014/main" id="{CE3CC8A5-BED7-4DF2-A23A-16FBEED0A7C5}"/>
              </a:ext>
            </a:extLst>
          </p:cNvPr>
          <p:cNvSpPr>
            <a:spLocks xmlns:a="http://schemas.openxmlformats.org/drawingml/2006/main" noGrp="1"/>
          </p:cNvSpPr>
          <p:nvPr/>
        </p:nvSpPr>
        <p:spPr>
          <a:xfrm xmlns:a="http://schemas.openxmlformats.org/drawingml/2006/main">
            <a:off x="647700" y="602932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47A6C"/>
                </a:solidFill>
                <a:latin typeface="Helvetica Neue"/>
                <a:ea typeface="Helvetica Neue"/>
                <a:cs typeface="Helvetica Neue"/>
              </a:defRPr>
            </a:pPr>
            <a:r>
              <a:rPr>
                <a:hlinkClick xmlns:r="http://schemas.openxmlformats.org/officeDocument/2006/relationships" r:id="Re8e2cf60684c4c0f"/>
              </a:rPr>
              <a:t>github.com/HASHQIX/else-voice-canvas</a:t>
            </a:r>
          </a:p>
        </p:txBody>
      </p:sp>
    </p:spTree>
    <p:extLst>
      <p:ext uri="{BB962C8B-B14F-4D97-AF65-F5344CB8AC3E}">
        <p14:creationId xmlns:p14="http://schemas.microsoft.com/office/powerpoint/2010/main" val="3347754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ELSE</dc:creator>
  <lastModifiedBy>Walnut Exporter</lastModifiedBy>
  <dc:title>ELSE Pitch Deck</dc:title>
  <dcterms:created xsi:type="dcterms:W3CDTF">2026-09-30T13:03:51.3700000Z</dcterms:created>
  <dcterms:modified xsi:type="dcterms:W3CDTF">2026-09-30T13:03:51.3700000Z</dcterms:modified>
</coreProperties>
</file>